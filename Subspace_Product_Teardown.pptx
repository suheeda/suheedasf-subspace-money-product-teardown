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217920" y="-1097280"/>
            <a:ext cx="5029200" cy="5029200"/>
          </a:xfrm>
          <a:prstGeom prst="ellipse">
            <a:avLst/>
          </a:prstGeom>
          <a:solidFill>
            <a:srgbClr val="4F46E5">
              <a:alpha val="18000"/>
            </a:srgbClr>
          </a:solidFill>
          <a:ln w="12700">
            <a:solidFill>
              <a:srgbClr val="4F46E5"/>
            </a:solidFill>
            <a:prstDash val="solid"/>
          </a:ln>
        </p:spPr>
      </p:sp>
      <p:sp>
        <p:nvSpPr>
          <p:cNvPr id="3" name="Shape 1"/>
          <p:cNvSpPr/>
          <p:nvPr/>
        </p:nvSpPr>
        <p:spPr>
          <a:xfrm>
            <a:off x="7132320" y="2286000"/>
            <a:ext cx="2926080" cy="2926080"/>
          </a:xfrm>
          <a:prstGeom prst="ellipse">
            <a:avLst/>
          </a:prstGeom>
          <a:solidFill>
            <a:srgbClr val="10B981">
              <a:alpha val="12000"/>
            </a:srgbClr>
          </a:solidFill>
          <a:ln w="12700">
            <a:solidFill>
              <a:srgbClr val="10B981"/>
            </a:solidFill>
            <a:prstDash val="solid"/>
          </a:ln>
        </p:spPr>
      </p:sp>
      <p:sp>
        <p:nvSpPr>
          <p:cNvPr id="4" name="Shape 2"/>
          <p:cNvSpPr/>
          <p:nvPr/>
        </p:nvSpPr>
        <p:spPr>
          <a:xfrm>
            <a:off x="548640" y="914400"/>
            <a:ext cx="2194560" cy="292608"/>
          </a:xfrm>
          <a:prstGeom prst="roundRect">
            <a:avLst/>
          </a:prstGeom>
          <a:solidFill>
            <a:srgbClr val="4F46E5"/>
          </a:solidFill>
          <a:ln w="12700">
            <a:solidFill>
              <a:srgbClr val="4F46E5"/>
            </a:solidFill>
            <a:prstDash val="solid"/>
          </a:ln>
        </p:spPr>
      </p:sp>
      <p:sp>
        <p:nvSpPr>
          <p:cNvPr id="5" name="Text 3"/>
          <p:cNvSpPr/>
          <p:nvPr/>
        </p:nvSpPr>
        <p:spPr>
          <a:xfrm>
            <a:off x="548640" y="932688"/>
            <a:ext cx="2194560" cy="256032"/>
          </a:xfrm>
          <a:prstGeom prst="rect">
            <a:avLst/>
          </a:prstGeom>
          <a:noFill/>
          <a:ln/>
        </p:spPr>
        <p:txBody>
          <a:bodyPr wrap="square" lIns="0" tIns="0" rIns="0" bIns="0" rtlCol="0" anchor="ctr"/>
          <a:lstStyle/>
          <a:p>
            <a:pPr algn="ctr" indent="0" marL="0">
              <a:buNone/>
            </a:pPr>
            <a:r>
              <a:rPr lang="en-US" sz="750" b="1" spc="120" kern="0" dirty="0">
                <a:solidFill>
                  <a:srgbClr val="FFFFFF"/>
                </a:solidFill>
              </a:rPr>
              <a:t>PRODUCT INTERN ASSIGNMENT 2026</a:t>
            </a:r>
            <a:endParaRPr lang="en-US" sz="750" dirty="0"/>
          </a:p>
        </p:txBody>
      </p:sp>
      <p:sp>
        <p:nvSpPr>
          <p:cNvPr id="6" name="Text 4"/>
          <p:cNvSpPr/>
          <p:nvPr/>
        </p:nvSpPr>
        <p:spPr>
          <a:xfrm>
            <a:off x="548640" y="1417320"/>
            <a:ext cx="7772400" cy="1188720"/>
          </a:xfrm>
          <a:prstGeom prst="rect">
            <a:avLst/>
          </a:prstGeom>
          <a:noFill/>
          <a:ln/>
        </p:spPr>
        <p:txBody>
          <a:bodyPr wrap="square" rtlCol="0" anchor="ctr"/>
          <a:lstStyle/>
          <a:p>
            <a:pPr indent="0" marL="0">
              <a:buNone/>
            </a:pPr>
            <a:r>
              <a:rPr lang="en-US" sz="5200" b="1" dirty="0">
                <a:solidFill>
                  <a:srgbClr val="FFFFFF"/>
                </a:solidFill>
                <a:latin typeface="Trebuchet MS" pitchFamily="34" charset="0"/>
                <a:ea typeface="Trebuchet MS" pitchFamily="34" charset="-122"/>
                <a:cs typeface="Trebuchet MS" pitchFamily="34" charset="-120"/>
              </a:rPr>
              <a:t>Subspace.money</a:t>
            </a:r>
            <a:endParaRPr lang="en-US" sz="5200" dirty="0"/>
          </a:p>
        </p:txBody>
      </p:sp>
      <p:sp>
        <p:nvSpPr>
          <p:cNvPr id="7" name="Text 5"/>
          <p:cNvSpPr/>
          <p:nvPr/>
        </p:nvSpPr>
        <p:spPr>
          <a:xfrm>
            <a:off x="548640" y="2651760"/>
            <a:ext cx="6400800" cy="457200"/>
          </a:xfrm>
          <a:prstGeom prst="rect">
            <a:avLst/>
          </a:prstGeom>
          <a:noFill/>
          <a:ln/>
        </p:spPr>
        <p:txBody>
          <a:bodyPr wrap="square" rtlCol="0" anchor="ctr"/>
          <a:lstStyle/>
          <a:p>
            <a:pPr indent="0" marL="0">
              <a:buNone/>
            </a:pPr>
            <a:r>
              <a:rPr lang="en-US" sz="2000" dirty="0">
                <a:solidFill>
                  <a:srgbClr val="10B981"/>
                </a:solidFill>
                <a:latin typeface="Calibri" pitchFamily="34" charset="0"/>
                <a:ea typeface="Calibri" pitchFamily="34" charset="-122"/>
                <a:cs typeface="Calibri" pitchFamily="34" charset="-120"/>
              </a:rPr>
              <a:t>Product Teardown — 5 Sharp Insights</a:t>
            </a:r>
            <a:endParaRPr lang="en-US" sz="2000" dirty="0"/>
          </a:p>
        </p:txBody>
      </p:sp>
      <p:sp>
        <p:nvSpPr>
          <p:cNvPr id="8" name="Shape 6"/>
          <p:cNvSpPr/>
          <p:nvPr/>
        </p:nvSpPr>
        <p:spPr>
          <a:xfrm>
            <a:off x="548640" y="3246120"/>
            <a:ext cx="4114800" cy="0"/>
          </a:xfrm>
          <a:prstGeom prst="line">
            <a:avLst/>
          </a:prstGeom>
          <a:noFill/>
          <a:ln w="19050">
            <a:solidFill>
              <a:srgbClr val="4F46E5"/>
            </a:solidFill>
            <a:prstDash val="solid"/>
          </a:ln>
        </p:spPr>
      </p:sp>
      <p:sp>
        <p:nvSpPr>
          <p:cNvPr id="9" name="Text 7"/>
          <p:cNvSpPr/>
          <p:nvPr/>
        </p:nvSpPr>
        <p:spPr>
          <a:xfrm>
            <a:off x="548640" y="3429000"/>
            <a:ext cx="8046720" cy="365760"/>
          </a:xfrm>
          <a:prstGeom prst="rect">
            <a:avLst/>
          </a:prstGeom>
          <a:noFill/>
          <a:ln/>
        </p:spPr>
        <p:txBody>
          <a:bodyPr wrap="square" rtlCol="0" anchor="ctr"/>
          <a:lstStyle/>
          <a:p>
            <a:pPr indent="0" marL="0">
              <a:buNone/>
            </a:pPr>
            <a:r>
              <a:rPr lang="en-US" sz="1050" b="1" dirty="0">
                <a:solidFill>
                  <a:srgbClr val="FFFFFF"/>
                </a:solidFill>
              </a:rPr>
              <a:t>Pillars Covered: </a:t>
            </a:r>
            <a:pPr indent="0" marL="0">
              <a:buNone/>
            </a:pPr>
            <a:r>
              <a:rPr lang="en-US" sz="1050" dirty="0">
                <a:solidFill>
                  <a:srgbClr val="64748B"/>
                </a:solidFill>
              </a:rPr>
              <a:t>UX · GTM &amp; ICPs · Features · Competitor Analysis · Potential Collaborations</a:t>
            </a:r>
            <a:endParaRPr lang="en-US" sz="1050" dirty="0"/>
          </a:p>
        </p:txBody>
      </p:sp>
      <p:sp>
        <p:nvSpPr>
          <p:cNvPr id="10" name="Text 8"/>
          <p:cNvSpPr/>
          <p:nvPr/>
        </p:nvSpPr>
        <p:spPr>
          <a:xfrm>
            <a:off x="548640" y="4526280"/>
            <a:ext cx="7772400" cy="274320"/>
          </a:xfrm>
          <a:prstGeom prst="rect">
            <a:avLst/>
          </a:prstGeom>
          <a:noFill/>
          <a:ln/>
        </p:spPr>
        <p:txBody>
          <a:bodyPr wrap="square" rtlCol="0" anchor="ctr"/>
          <a:lstStyle/>
          <a:p>
            <a:pPr indent="0" marL="0">
              <a:buNone/>
            </a:pPr>
            <a:r>
              <a:rPr lang="en-US" sz="850" i="1" dirty="0">
                <a:solidFill>
                  <a:srgbClr val="64748B"/>
                </a:solidFill>
              </a:rPr>
              <a:t>Deadline: 31 May 2026  |  Bootstrapped · Profitable · Rs.36.5 Cr ARR</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8229600" cy="502920"/>
          </a:xfrm>
          <a:prstGeom prst="rect">
            <a:avLst/>
          </a:prstGeom>
          <a:noFill/>
          <a:ln/>
        </p:spPr>
        <p:txBody>
          <a:bodyPr wrap="square" rtlCol="0" anchor="ctr"/>
          <a:lstStyle/>
          <a:p>
            <a:pPr indent="0" marL="0">
              <a:buNone/>
            </a:pPr>
            <a:r>
              <a:rPr lang="en-US" sz="2800" b="1" dirty="0">
                <a:solidFill>
                  <a:srgbClr val="0F172A"/>
                </a:solidFill>
                <a:latin typeface="Trebuchet MS" pitchFamily="34" charset="0"/>
                <a:ea typeface="Trebuchet MS" pitchFamily="34" charset="-122"/>
                <a:cs typeface="Trebuchet MS" pitchFamily="34" charset="-120"/>
              </a:rPr>
              <a:t>Company Snapshot</a:t>
            </a:r>
            <a:endParaRPr lang="en-US" sz="2800" dirty="0"/>
          </a:p>
        </p:txBody>
      </p:sp>
      <p:sp>
        <p:nvSpPr>
          <p:cNvPr id="3" name="Shape 1"/>
          <p:cNvSpPr/>
          <p:nvPr/>
        </p:nvSpPr>
        <p:spPr>
          <a:xfrm>
            <a:off x="457200" y="896112"/>
            <a:ext cx="8229600" cy="0"/>
          </a:xfrm>
          <a:prstGeom prst="line">
            <a:avLst/>
          </a:prstGeom>
          <a:noFill/>
          <a:ln w="12700">
            <a:solidFill>
              <a:srgbClr val="E2E8F0"/>
            </a:solidFill>
            <a:prstDash val="solid"/>
          </a:ln>
        </p:spPr>
      </p:sp>
      <p:sp>
        <p:nvSpPr>
          <p:cNvPr id="4" name="Shape 2"/>
          <p:cNvSpPr/>
          <p:nvPr/>
        </p:nvSpPr>
        <p:spPr>
          <a:xfrm>
            <a:off x="411480" y="1097280"/>
            <a:ext cx="1920240" cy="1463040"/>
          </a:xfrm>
          <a:prstGeom prst="rect">
            <a:avLst/>
          </a:prstGeom>
          <a:solidFill>
            <a:srgbClr val="F1F5F9"/>
          </a:solidFill>
          <a:ln w="12700">
            <a:solidFill>
              <a:srgbClr val="E2E8F0"/>
            </a:solidFill>
            <a:prstDash val="solid"/>
          </a:ln>
        </p:spPr>
      </p:sp>
      <p:sp>
        <p:nvSpPr>
          <p:cNvPr id="5" name="Shape 3"/>
          <p:cNvSpPr/>
          <p:nvPr/>
        </p:nvSpPr>
        <p:spPr>
          <a:xfrm>
            <a:off x="411480" y="1097280"/>
            <a:ext cx="1920240" cy="73152"/>
          </a:xfrm>
          <a:prstGeom prst="rect">
            <a:avLst/>
          </a:prstGeom>
          <a:solidFill>
            <a:srgbClr val="4F46E5"/>
          </a:solidFill>
          <a:ln w="12700">
            <a:solidFill>
              <a:srgbClr val="4F46E5"/>
            </a:solidFill>
            <a:prstDash val="solid"/>
          </a:ln>
        </p:spPr>
      </p:sp>
      <p:sp>
        <p:nvSpPr>
          <p:cNvPr id="6" name="Text 4"/>
          <p:cNvSpPr/>
          <p:nvPr/>
        </p:nvSpPr>
        <p:spPr>
          <a:xfrm>
            <a:off x="502920" y="1280160"/>
            <a:ext cx="1737360" cy="548640"/>
          </a:xfrm>
          <a:prstGeom prst="rect">
            <a:avLst/>
          </a:prstGeom>
          <a:noFill/>
          <a:ln/>
        </p:spPr>
        <p:txBody>
          <a:bodyPr wrap="square" rtlCol="0" anchor="ctr"/>
          <a:lstStyle/>
          <a:p>
            <a:pPr algn="ctr" indent="0" marL="0">
              <a:buNone/>
            </a:pPr>
            <a:r>
              <a:rPr lang="en-US" sz="1800" b="1" dirty="0">
                <a:solidFill>
                  <a:srgbClr val="0F172A"/>
                </a:solidFill>
              </a:rPr>
              <a:t>Rs.36.5 Cr</a:t>
            </a:r>
            <a:endParaRPr lang="en-US" sz="1800" dirty="0"/>
          </a:p>
        </p:txBody>
      </p:sp>
      <p:sp>
        <p:nvSpPr>
          <p:cNvPr id="7" name="Text 5"/>
          <p:cNvSpPr/>
          <p:nvPr/>
        </p:nvSpPr>
        <p:spPr>
          <a:xfrm>
            <a:off x="502920" y="1828800"/>
            <a:ext cx="1737360" cy="502920"/>
          </a:xfrm>
          <a:prstGeom prst="rect">
            <a:avLst/>
          </a:prstGeom>
          <a:noFill/>
          <a:ln/>
        </p:spPr>
        <p:txBody>
          <a:bodyPr wrap="square" rtlCol="0" anchor="ctr"/>
          <a:lstStyle/>
          <a:p>
            <a:pPr algn="ctr" indent="0" marL="0">
              <a:buNone/>
            </a:pPr>
            <a:r>
              <a:rPr lang="en-US" sz="950" dirty="0">
                <a:solidFill>
                  <a:srgbClr val="64748B"/>
                </a:solidFill>
              </a:rPr>
              <a:t>ARR (FY25)</a:t>
            </a:r>
            <a:endParaRPr lang="en-US" sz="950" dirty="0"/>
          </a:p>
        </p:txBody>
      </p:sp>
      <p:sp>
        <p:nvSpPr>
          <p:cNvPr id="8" name="Shape 6"/>
          <p:cNvSpPr/>
          <p:nvPr/>
        </p:nvSpPr>
        <p:spPr>
          <a:xfrm>
            <a:off x="2606040" y="1097280"/>
            <a:ext cx="1920240" cy="1463040"/>
          </a:xfrm>
          <a:prstGeom prst="rect">
            <a:avLst/>
          </a:prstGeom>
          <a:solidFill>
            <a:srgbClr val="F1F5F9"/>
          </a:solidFill>
          <a:ln w="12700">
            <a:solidFill>
              <a:srgbClr val="E2E8F0"/>
            </a:solidFill>
            <a:prstDash val="solid"/>
          </a:ln>
        </p:spPr>
      </p:sp>
      <p:sp>
        <p:nvSpPr>
          <p:cNvPr id="9" name="Shape 7"/>
          <p:cNvSpPr/>
          <p:nvPr/>
        </p:nvSpPr>
        <p:spPr>
          <a:xfrm>
            <a:off x="2606040" y="1097280"/>
            <a:ext cx="1920240" cy="73152"/>
          </a:xfrm>
          <a:prstGeom prst="rect">
            <a:avLst/>
          </a:prstGeom>
          <a:solidFill>
            <a:srgbClr val="10B981"/>
          </a:solidFill>
          <a:ln w="12700">
            <a:solidFill>
              <a:srgbClr val="10B981"/>
            </a:solidFill>
            <a:prstDash val="solid"/>
          </a:ln>
        </p:spPr>
      </p:sp>
      <p:sp>
        <p:nvSpPr>
          <p:cNvPr id="10" name="Text 8"/>
          <p:cNvSpPr/>
          <p:nvPr/>
        </p:nvSpPr>
        <p:spPr>
          <a:xfrm>
            <a:off x="2697480" y="1280160"/>
            <a:ext cx="1737360" cy="548640"/>
          </a:xfrm>
          <a:prstGeom prst="rect">
            <a:avLst/>
          </a:prstGeom>
          <a:noFill/>
          <a:ln/>
        </p:spPr>
        <p:txBody>
          <a:bodyPr wrap="square" rtlCol="0" anchor="ctr"/>
          <a:lstStyle/>
          <a:p>
            <a:pPr algn="ctr" indent="0" marL="0">
              <a:buNone/>
            </a:pPr>
            <a:r>
              <a:rPr lang="en-US" sz="1800" b="1" dirty="0">
                <a:solidFill>
                  <a:srgbClr val="0F172A"/>
                </a:solidFill>
              </a:rPr>
              <a:t>Bootstrapped</a:t>
            </a:r>
            <a:endParaRPr lang="en-US" sz="1800" dirty="0"/>
          </a:p>
        </p:txBody>
      </p:sp>
      <p:sp>
        <p:nvSpPr>
          <p:cNvPr id="11" name="Text 9"/>
          <p:cNvSpPr/>
          <p:nvPr/>
        </p:nvSpPr>
        <p:spPr>
          <a:xfrm>
            <a:off x="2697480" y="1828800"/>
            <a:ext cx="1737360" cy="502920"/>
          </a:xfrm>
          <a:prstGeom prst="rect">
            <a:avLst/>
          </a:prstGeom>
          <a:noFill/>
          <a:ln/>
        </p:spPr>
        <p:txBody>
          <a:bodyPr wrap="square" rtlCol="0" anchor="ctr"/>
          <a:lstStyle/>
          <a:p>
            <a:pPr algn="ctr" indent="0" marL="0">
              <a:buNone/>
            </a:pPr>
            <a:r>
              <a:rPr lang="en-US" sz="950" dirty="0">
                <a:solidFill>
                  <a:srgbClr val="64748B"/>
                </a:solidFill>
              </a:rPr>
              <a:t>Zero External Funding</a:t>
            </a:r>
            <a:endParaRPr lang="en-US" sz="950" dirty="0"/>
          </a:p>
        </p:txBody>
      </p:sp>
      <p:sp>
        <p:nvSpPr>
          <p:cNvPr id="12" name="Shape 10"/>
          <p:cNvSpPr/>
          <p:nvPr/>
        </p:nvSpPr>
        <p:spPr>
          <a:xfrm>
            <a:off x="4800600" y="1097280"/>
            <a:ext cx="1920240" cy="1463040"/>
          </a:xfrm>
          <a:prstGeom prst="rect">
            <a:avLst/>
          </a:prstGeom>
          <a:solidFill>
            <a:srgbClr val="F1F5F9"/>
          </a:solidFill>
          <a:ln w="12700">
            <a:solidFill>
              <a:srgbClr val="E2E8F0"/>
            </a:solidFill>
            <a:prstDash val="solid"/>
          </a:ln>
        </p:spPr>
      </p:sp>
      <p:sp>
        <p:nvSpPr>
          <p:cNvPr id="13" name="Shape 11"/>
          <p:cNvSpPr/>
          <p:nvPr/>
        </p:nvSpPr>
        <p:spPr>
          <a:xfrm>
            <a:off x="4800600" y="1097280"/>
            <a:ext cx="1920240" cy="73152"/>
          </a:xfrm>
          <a:prstGeom prst="rect">
            <a:avLst/>
          </a:prstGeom>
          <a:solidFill>
            <a:srgbClr val="F59E0B"/>
          </a:solidFill>
          <a:ln w="12700">
            <a:solidFill>
              <a:srgbClr val="F59E0B"/>
            </a:solidFill>
            <a:prstDash val="solid"/>
          </a:ln>
        </p:spPr>
      </p:sp>
      <p:sp>
        <p:nvSpPr>
          <p:cNvPr id="14" name="Text 12"/>
          <p:cNvSpPr/>
          <p:nvPr/>
        </p:nvSpPr>
        <p:spPr>
          <a:xfrm>
            <a:off x="4892040" y="1280160"/>
            <a:ext cx="1737360" cy="548640"/>
          </a:xfrm>
          <a:prstGeom prst="rect">
            <a:avLst/>
          </a:prstGeom>
          <a:noFill/>
          <a:ln/>
        </p:spPr>
        <p:txBody>
          <a:bodyPr wrap="square" rtlCol="0" anchor="ctr"/>
          <a:lstStyle/>
          <a:p>
            <a:pPr algn="ctr" indent="0" marL="0">
              <a:buNone/>
            </a:pPr>
            <a:r>
              <a:rPr lang="en-US" sz="1800" b="1" dirty="0">
                <a:solidFill>
                  <a:srgbClr val="0F172A"/>
                </a:solidFill>
              </a:rPr>
              <a:t>3 Verticals</a:t>
            </a:r>
            <a:endParaRPr lang="en-US" sz="1800" dirty="0"/>
          </a:p>
        </p:txBody>
      </p:sp>
      <p:sp>
        <p:nvSpPr>
          <p:cNvPr id="15" name="Text 13"/>
          <p:cNvSpPr/>
          <p:nvPr/>
        </p:nvSpPr>
        <p:spPr>
          <a:xfrm>
            <a:off x="4892040" y="1828800"/>
            <a:ext cx="1737360" cy="502920"/>
          </a:xfrm>
          <a:prstGeom prst="rect">
            <a:avLst/>
          </a:prstGeom>
          <a:noFill/>
          <a:ln/>
        </p:spPr>
        <p:txBody>
          <a:bodyPr wrap="square" rtlCol="0" anchor="ctr"/>
          <a:lstStyle/>
          <a:p>
            <a:pPr algn="ctr" indent="0" marL="0">
              <a:buNone/>
            </a:pPr>
            <a:r>
              <a:rPr lang="en-US" sz="950" dirty="0">
                <a:solidFill>
                  <a:srgbClr val="64748B"/>
                </a:solidFill>
              </a:rPr>
              <a:t>Subscriptions · Rentals · Gift Cards</a:t>
            </a:r>
            <a:endParaRPr lang="en-US" sz="950" dirty="0"/>
          </a:p>
        </p:txBody>
      </p:sp>
      <p:sp>
        <p:nvSpPr>
          <p:cNvPr id="16" name="Shape 14"/>
          <p:cNvSpPr/>
          <p:nvPr/>
        </p:nvSpPr>
        <p:spPr>
          <a:xfrm>
            <a:off x="6995160" y="1097280"/>
            <a:ext cx="1920240" cy="1463040"/>
          </a:xfrm>
          <a:prstGeom prst="rect">
            <a:avLst/>
          </a:prstGeom>
          <a:solidFill>
            <a:srgbClr val="F1F5F9"/>
          </a:solidFill>
          <a:ln w="12700">
            <a:solidFill>
              <a:srgbClr val="E2E8F0"/>
            </a:solidFill>
            <a:prstDash val="solid"/>
          </a:ln>
        </p:spPr>
      </p:sp>
      <p:sp>
        <p:nvSpPr>
          <p:cNvPr id="17" name="Shape 15"/>
          <p:cNvSpPr/>
          <p:nvPr/>
        </p:nvSpPr>
        <p:spPr>
          <a:xfrm>
            <a:off x="6995160" y="1097280"/>
            <a:ext cx="1920240" cy="73152"/>
          </a:xfrm>
          <a:prstGeom prst="rect">
            <a:avLst/>
          </a:prstGeom>
          <a:solidFill>
            <a:srgbClr val="EF4444"/>
          </a:solidFill>
          <a:ln w="12700">
            <a:solidFill>
              <a:srgbClr val="EF4444"/>
            </a:solidFill>
            <a:prstDash val="solid"/>
          </a:ln>
        </p:spPr>
      </p:sp>
      <p:sp>
        <p:nvSpPr>
          <p:cNvPr id="18" name="Text 16"/>
          <p:cNvSpPr/>
          <p:nvPr/>
        </p:nvSpPr>
        <p:spPr>
          <a:xfrm>
            <a:off x="7086600" y="1280160"/>
            <a:ext cx="1737360" cy="548640"/>
          </a:xfrm>
          <a:prstGeom prst="rect">
            <a:avLst/>
          </a:prstGeom>
          <a:noFill/>
          <a:ln/>
        </p:spPr>
        <p:txBody>
          <a:bodyPr wrap="square" rtlCol="0" anchor="ctr"/>
          <a:lstStyle/>
          <a:p>
            <a:pPr algn="ctr" indent="0" marL="0">
              <a:buNone/>
            </a:pPr>
            <a:r>
              <a:rPr lang="en-US" sz="1800" b="1" dirty="0">
                <a:solidFill>
                  <a:srgbClr val="0F172A"/>
                </a:solidFill>
              </a:rPr>
              <a:t>3.6★</a:t>
            </a:r>
            <a:endParaRPr lang="en-US" sz="1800" dirty="0"/>
          </a:p>
        </p:txBody>
      </p:sp>
      <p:sp>
        <p:nvSpPr>
          <p:cNvPr id="19" name="Text 17"/>
          <p:cNvSpPr/>
          <p:nvPr/>
        </p:nvSpPr>
        <p:spPr>
          <a:xfrm>
            <a:off x="7086600" y="1828800"/>
            <a:ext cx="1737360" cy="502920"/>
          </a:xfrm>
          <a:prstGeom prst="rect">
            <a:avLst/>
          </a:prstGeom>
          <a:noFill/>
          <a:ln/>
        </p:spPr>
        <p:txBody>
          <a:bodyPr wrap="square" rtlCol="0" anchor="ctr"/>
          <a:lstStyle/>
          <a:p>
            <a:pPr algn="ctr" indent="0" marL="0">
              <a:buNone/>
            </a:pPr>
            <a:r>
              <a:rPr lang="en-US" sz="950" dirty="0">
                <a:solidFill>
                  <a:srgbClr val="64748B"/>
                </a:solidFill>
              </a:rPr>
              <a:t>Google Play (3.2K reviews)</a:t>
            </a:r>
            <a:endParaRPr lang="en-US" sz="950" dirty="0"/>
          </a:p>
        </p:txBody>
      </p:sp>
      <p:sp>
        <p:nvSpPr>
          <p:cNvPr id="20" name="Text 18"/>
          <p:cNvSpPr/>
          <p:nvPr/>
        </p:nvSpPr>
        <p:spPr>
          <a:xfrm>
            <a:off x="457200" y="2834640"/>
            <a:ext cx="3840480" cy="320040"/>
          </a:xfrm>
          <a:prstGeom prst="rect">
            <a:avLst/>
          </a:prstGeom>
          <a:noFill/>
          <a:ln/>
        </p:spPr>
        <p:txBody>
          <a:bodyPr wrap="square" rtlCol="0" anchor="ctr"/>
          <a:lstStyle/>
          <a:p>
            <a:pPr indent="0" marL="0">
              <a:buNone/>
            </a:pPr>
            <a:r>
              <a:rPr lang="en-US" sz="1300" b="1" dirty="0">
                <a:solidFill>
                  <a:srgbClr val="0F172A"/>
                </a:solidFill>
              </a:rPr>
              <a:t>What Subspace Does</a:t>
            </a:r>
            <a:endParaRPr lang="en-US" sz="1300" dirty="0"/>
          </a:p>
        </p:txBody>
      </p:sp>
      <p:sp>
        <p:nvSpPr>
          <p:cNvPr id="21" name="Text 19"/>
          <p:cNvSpPr/>
          <p:nvPr/>
        </p:nvSpPr>
        <p:spPr>
          <a:xfrm>
            <a:off x="457200" y="3182112"/>
            <a:ext cx="8229600" cy="1463040"/>
          </a:xfrm>
          <a:prstGeom prst="rect">
            <a:avLst/>
          </a:prstGeom>
          <a:noFill/>
          <a:ln/>
        </p:spPr>
        <p:txBody>
          <a:bodyPr wrap="square" rtlCol="0" anchor="ctr"/>
          <a:lstStyle/>
          <a:p>
            <a:pPr indent="0" marL="0">
              <a:buNone/>
            </a:pPr>
            <a:r>
              <a:rPr lang="en-US" sz="1050" b="1" dirty="0">
                <a:solidFill>
                  <a:srgbClr val="64748B"/>
                </a:solidFill>
              </a:rPr>
              <a:t>Subscribe to anything, delivered in minutes. </a:t>
            </a:r>
            <a:pPr indent="0" marL="0">
              <a:buNone/>
            </a:pPr>
            <a:r>
              <a:rPr lang="en-US" sz="1050" dirty="0">
                <a:solidFill>
                  <a:srgbClr val="64748B"/>
                </a:solidFill>
              </a:rPr>
              <a:t>Subspace lets Indian users buy shared/discounted OTT/SaaS subscriptions (up to 80% off), rent gadgets with 10-min delivery, and purchase discounted gift cards. Its group-sharing model creates social network effects, and its Negotiate API automates price bargaining with brands — a genuine moat. Bootstrapped &amp; profitable since founding (IIT Madras alumni, Bengaluru).</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320040"/>
            <a:ext cx="8229600" cy="59436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5 Insights. 5 Pillars.</a:t>
            </a:r>
            <a:endParaRPr lang="en-US" sz="3200" dirty="0"/>
          </a:p>
        </p:txBody>
      </p:sp>
      <p:sp>
        <p:nvSpPr>
          <p:cNvPr id="3" name="Text 1"/>
          <p:cNvSpPr/>
          <p:nvPr/>
        </p:nvSpPr>
        <p:spPr>
          <a:xfrm>
            <a:off x="457200" y="914400"/>
            <a:ext cx="8229600" cy="365760"/>
          </a:xfrm>
          <a:prstGeom prst="rect">
            <a:avLst/>
          </a:prstGeom>
          <a:noFill/>
          <a:ln/>
        </p:spPr>
        <p:txBody>
          <a:bodyPr wrap="square" rtlCol="0" anchor="ctr"/>
          <a:lstStyle/>
          <a:p>
            <a:pPr indent="0" marL="0">
              <a:buNone/>
            </a:pPr>
            <a:r>
              <a:rPr lang="en-US" sz="1300" i="1" dirty="0">
                <a:solidFill>
                  <a:srgbClr val="64748B"/>
                </a:solidFill>
              </a:rPr>
              <a:t>Each grounded in real app usage. Each tied to user pain or business risk.</a:t>
            </a:r>
            <a:endParaRPr lang="en-US" sz="1300" dirty="0"/>
          </a:p>
        </p:txBody>
      </p:sp>
      <p:sp>
        <p:nvSpPr>
          <p:cNvPr id="4" name="Shape 2"/>
          <p:cNvSpPr/>
          <p:nvPr/>
        </p:nvSpPr>
        <p:spPr>
          <a:xfrm>
            <a:off x="365760" y="1508760"/>
            <a:ext cx="2606040" cy="1463040"/>
          </a:xfrm>
          <a:prstGeom prst="rect">
            <a:avLst/>
          </a:prstGeom>
          <a:solidFill>
            <a:srgbClr val="EF4444">
              <a:alpha val="10000"/>
            </a:srgbClr>
          </a:solidFill>
          <a:ln w="12700">
            <a:solidFill>
              <a:srgbClr val="EF4444"/>
            </a:solidFill>
            <a:prstDash val="solid"/>
          </a:ln>
        </p:spPr>
      </p:sp>
      <p:sp>
        <p:nvSpPr>
          <p:cNvPr id="5" name="Text 3"/>
          <p:cNvSpPr/>
          <p:nvPr/>
        </p:nvSpPr>
        <p:spPr>
          <a:xfrm>
            <a:off x="502920" y="1618488"/>
            <a:ext cx="457200" cy="411480"/>
          </a:xfrm>
          <a:prstGeom prst="rect">
            <a:avLst/>
          </a:prstGeom>
          <a:noFill/>
          <a:ln/>
        </p:spPr>
        <p:txBody>
          <a:bodyPr wrap="square" lIns="0" tIns="0" rIns="0" bIns="0" rtlCol="0" anchor="ctr"/>
          <a:lstStyle/>
          <a:p>
            <a:pPr indent="0" marL="0">
              <a:buNone/>
            </a:pPr>
            <a:r>
              <a:rPr lang="en-US" sz="2200" b="1" dirty="0">
                <a:solidFill>
                  <a:srgbClr val="EF4444"/>
                </a:solidFill>
              </a:rPr>
              <a:t>01</a:t>
            </a:r>
            <a:endParaRPr lang="en-US" sz="2200" dirty="0"/>
          </a:p>
        </p:txBody>
      </p:sp>
      <p:sp>
        <p:nvSpPr>
          <p:cNvPr id="6" name="Text 4"/>
          <p:cNvSpPr/>
          <p:nvPr/>
        </p:nvSpPr>
        <p:spPr>
          <a:xfrm>
            <a:off x="502920" y="2039112"/>
            <a:ext cx="2377440" cy="548640"/>
          </a:xfrm>
          <a:prstGeom prst="rect">
            <a:avLst/>
          </a:prstGeom>
          <a:noFill/>
          <a:ln/>
        </p:spPr>
        <p:txBody>
          <a:bodyPr wrap="square" lIns="0" tIns="0" rIns="0" bIns="0" rtlCol="0" anchor="ctr"/>
          <a:lstStyle/>
          <a:p>
            <a:pPr indent="0" marL="0">
              <a:buNone/>
            </a:pPr>
            <a:r>
              <a:rPr lang="en-US" sz="1050" b="1" dirty="0">
                <a:solidFill>
                  <a:srgbClr val="FFFFFF"/>
                </a:solidFill>
              </a:rPr>
              <a:t>Trust Collapse in Group Sharing</a:t>
            </a:r>
            <a:endParaRPr lang="en-US" sz="1050" dirty="0"/>
          </a:p>
        </p:txBody>
      </p:sp>
      <p:sp>
        <p:nvSpPr>
          <p:cNvPr id="7" name="Shape 5"/>
          <p:cNvSpPr/>
          <p:nvPr/>
        </p:nvSpPr>
        <p:spPr>
          <a:xfrm>
            <a:off x="502920" y="2624328"/>
            <a:ext cx="1280160" cy="182880"/>
          </a:xfrm>
          <a:prstGeom prst="rect">
            <a:avLst/>
          </a:prstGeom>
          <a:solidFill>
            <a:srgbClr val="EF4444">
              <a:alpha val="30000"/>
            </a:srgbClr>
          </a:solidFill>
          <a:ln w="12700">
            <a:solidFill>
              <a:srgbClr val="EF4444"/>
            </a:solidFill>
            <a:prstDash val="solid"/>
          </a:ln>
        </p:spPr>
      </p:sp>
      <p:sp>
        <p:nvSpPr>
          <p:cNvPr id="8" name="Text 6"/>
          <p:cNvSpPr/>
          <p:nvPr/>
        </p:nvSpPr>
        <p:spPr>
          <a:xfrm>
            <a:off x="502920" y="2624328"/>
            <a:ext cx="1280160" cy="182880"/>
          </a:xfrm>
          <a:prstGeom prst="rect">
            <a:avLst/>
          </a:prstGeom>
          <a:noFill/>
          <a:ln/>
        </p:spPr>
        <p:txBody>
          <a:bodyPr wrap="square" lIns="0" tIns="0" rIns="0" bIns="0" rtlCol="0" anchor="ctr"/>
          <a:lstStyle/>
          <a:p>
            <a:pPr algn="ctr" indent="0" marL="0">
              <a:buNone/>
            </a:pPr>
            <a:r>
              <a:rPr lang="en-US" sz="750" b="1" spc="100" kern="0" dirty="0">
                <a:solidFill>
                  <a:srgbClr val="EF4444"/>
                </a:solidFill>
              </a:rPr>
              <a:t>UX</a:t>
            </a:r>
            <a:endParaRPr lang="en-US" sz="750" dirty="0"/>
          </a:p>
        </p:txBody>
      </p:sp>
      <p:sp>
        <p:nvSpPr>
          <p:cNvPr id="9" name="Shape 7"/>
          <p:cNvSpPr/>
          <p:nvPr/>
        </p:nvSpPr>
        <p:spPr>
          <a:xfrm>
            <a:off x="3200400" y="1508760"/>
            <a:ext cx="2606040" cy="1463040"/>
          </a:xfrm>
          <a:prstGeom prst="rect">
            <a:avLst/>
          </a:prstGeom>
          <a:solidFill>
            <a:srgbClr val="F59E0B">
              <a:alpha val="10000"/>
            </a:srgbClr>
          </a:solidFill>
          <a:ln w="12700">
            <a:solidFill>
              <a:srgbClr val="F59E0B"/>
            </a:solidFill>
            <a:prstDash val="solid"/>
          </a:ln>
        </p:spPr>
      </p:sp>
      <p:sp>
        <p:nvSpPr>
          <p:cNvPr id="10" name="Text 8"/>
          <p:cNvSpPr/>
          <p:nvPr/>
        </p:nvSpPr>
        <p:spPr>
          <a:xfrm>
            <a:off x="3337560" y="1618488"/>
            <a:ext cx="457200" cy="411480"/>
          </a:xfrm>
          <a:prstGeom prst="rect">
            <a:avLst/>
          </a:prstGeom>
          <a:noFill/>
          <a:ln/>
        </p:spPr>
        <p:txBody>
          <a:bodyPr wrap="square" lIns="0" tIns="0" rIns="0" bIns="0" rtlCol="0" anchor="ctr"/>
          <a:lstStyle/>
          <a:p>
            <a:pPr indent="0" marL="0">
              <a:buNone/>
            </a:pPr>
            <a:r>
              <a:rPr lang="en-US" sz="2200" b="1" dirty="0">
                <a:solidFill>
                  <a:srgbClr val="F59E0B"/>
                </a:solidFill>
              </a:rPr>
              <a:t>02</a:t>
            </a:r>
            <a:endParaRPr lang="en-US" sz="2200" dirty="0"/>
          </a:p>
        </p:txBody>
      </p:sp>
      <p:sp>
        <p:nvSpPr>
          <p:cNvPr id="11" name="Text 9"/>
          <p:cNvSpPr/>
          <p:nvPr/>
        </p:nvSpPr>
        <p:spPr>
          <a:xfrm>
            <a:off x="3337560" y="2039112"/>
            <a:ext cx="2377440" cy="548640"/>
          </a:xfrm>
          <a:prstGeom prst="rect">
            <a:avLst/>
          </a:prstGeom>
          <a:noFill/>
          <a:ln/>
        </p:spPr>
        <p:txBody>
          <a:bodyPr wrap="square" lIns="0" tIns="0" rIns="0" bIns="0" rtlCol="0" anchor="ctr"/>
          <a:lstStyle/>
          <a:p>
            <a:pPr indent="0" marL="0">
              <a:buNone/>
            </a:pPr>
            <a:r>
              <a:rPr lang="en-US" sz="1050" b="1" dirty="0">
                <a:solidFill>
                  <a:srgbClr val="FFFFFF"/>
                </a:solidFill>
              </a:rPr>
              <a:t>Onboarding Hides the Value Prop</a:t>
            </a:r>
            <a:endParaRPr lang="en-US" sz="1050" dirty="0"/>
          </a:p>
        </p:txBody>
      </p:sp>
      <p:sp>
        <p:nvSpPr>
          <p:cNvPr id="12" name="Shape 10"/>
          <p:cNvSpPr/>
          <p:nvPr/>
        </p:nvSpPr>
        <p:spPr>
          <a:xfrm>
            <a:off x="3337560" y="2624328"/>
            <a:ext cx="1280160" cy="182880"/>
          </a:xfrm>
          <a:prstGeom prst="rect">
            <a:avLst/>
          </a:prstGeom>
          <a:solidFill>
            <a:srgbClr val="F59E0B">
              <a:alpha val="30000"/>
            </a:srgbClr>
          </a:solidFill>
          <a:ln w="12700">
            <a:solidFill>
              <a:srgbClr val="F59E0B"/>
            </a:solidFill>
            <a:prstDash val="solid"/>
          </a:ln>
        </p:spPr>
      </p:sp>
      <p:sp>
        <p:nvSpPr>
          <p:cNvPr id="13" name="Text 11"/>
          <p:cNvSpPr/>
          <p:nvPr/>
        </p:nvSpPr>
        <p:spPr>
          <a:xfrm>
            <a:off x="3337560" y="2624328"/>
            <a:ext cx="1280160" cy="182880"/>
          </a:xfrm>
          <a:prstGeom prst="rect">
            <a:avLst/>
          </a:prstGeom>
          <a:noFill/>
          <a:ln/>
        </p:spPr>
        <p:txBody>
          <a:bodyPr wrap="square" lIns="0" tIns="0" rIns="0" bIns="0" rtlCol="0" anchor="ctr"/>
          <a:lstStyle/>
          <a:p>
            <a:pPr algn="ctr" indent="0" marL="0">
              <a:buNone/>
            </a:pPr>
            <a:r>
              <a:rPr lang="en-US" sz="750" b="1" spc="100" kern="0" dirty="0">
                <a:solidFill>
                  <a:srgbClr val="F59E0B"/>
                </a:solidFill>
              </a:rPr>
              <a:t>GTM &amp; ICPs</a:t>
            </a:r>
            <a:endParaRPr lang="en-US" sz="750" dirty="0"/>
          </a:p>
        </p:txBody>
      </p:sp>
      <p:sp>
        <p:nvSpPr>
          <p:cNvPr id="14" name="Shape 12"/>
          <p:cNvSpPr/>
          <p:nvPr/>
        </p:nvSpPr>
        <p:spPr>
          <a:xfrm>
            <a:off x="6035040" y="1508760"/>
            <a:ext cx="2606040" cy="1463040"/>
          </a:xfrm>
          <a:prstGeom prst="rect">
            <a:avLst/>
          </a:prstGeom>
          <a:solidFill>
            <a:srgbClr val="4F46E5">
              <a:alpha val="10000"/>
            </a:srgbClr>
          </a:solidFill>
          <a:ln w="12700">
            <a:solidFill>
              <a:srgbClr val="4F46E5"/>
            </a:solidFill>
            <a:prstDash val="solid"/>
          </a:ln>
        </p:spPr>
      </p:sp>
      <p:sp>
        <p:nvSpPr>
          <p:cNvPr id="15" name="Text 13"/>
          <p:cNvSpPr/>
          <p:nvPr/>
        </p:nvSpPr>
        <p:spPr>
          <a:xfrm>
            <a:off x="6172200" y="1618488"/>
            <a:ext cx="457200" cy="411480"/>
          </a:xfrm>
          <a:prstGeom prst="rect">
            <a:avLst/>
          </a:prstGeom>
          <a:noFill/>
          <a:ln/>
        </p:spPr>
        <p:txBody>
          <a:bodyPr wrap="square" lIns="0" tIns="0" rIns="0" bIns="0" rtlCol="0" anchor="ctr"/>
          <a:lstStyle/>
          <a:p>
            <a:pPr indent="0" marL="0">
              <a:buNone/>
            </a:pPr>
            <a:r>
              <a:rPr lang="en-US" sz="2200" b="1" dirty="0">
                <a:solidFill>
                  <a:srgbClr val="4F46E5"/>
                </a:solidFill>
              </a:rPr>
              <a:t>03</a:t>
            </a:r>
            <a:endParaRPr lang="en-US" sz="2200" dirty="0"/>
          </a:p>
        </p:txBody>
      </p:sp>
      <p:sp>
        <p:nvSpPr>
          <p:cNvPr id="16" name="Text 14"/>
          <p:cNvSpPr/>
          <p:nvPr/>
        </p:nvSpPr>
        <p:spPr>
          <a:xfrm>
            <a:off x="6172200" y="2039112"/>
            <a:ext cx="2377440" cy="548640"/>
          </a:xfrm>
          <a:prstGeom prst="rect">
            <a:avLst/>
          </a:prstGeom>
          <a:noFill/>
          <a:ln/>
        </p:spPr>
        <p:txBody>
          <a:bodyPr wrap="square" lIns="0" tIns="0" rIns="0" bIns="0" rtlCol="0" anchor="ctr"/>
          <a:lstStyle/>
          <a:p>
            <a:pPr indent="0" marL="0">
              <a:buNone/>
            </a:pPr>
            <a:r>
              <a:rPr lang="en-US" sz="1050" b="1" dirty="0">
                <a:solidFill>
                  <a:srgbClr val="FFFFFF"/>
                </a:solidFill>
              </a:rPr>
              <a:t>Rentals Are a Ghost Feature</a:t>
            </a:r>
            <a:endParaRPr lang="en-US" sz="1050" dirty="0"/>
          </a:p>
        </p:txBody>
      </p:sp>
      <p:sp>
        <p:nvSpPr>
          <p:cNvPr id="17" name="Shape 15"/>
          <p:cNvSpPr/>
          <p:nvPr/>
        </p:nvSpPr>
        <p:spPr>
          <a:xfrm>
            <a:off x="6172200" y="2624328"/>
            <a:ext cx="1280160" cy="182880"/>
          </a:xfrm>
          <a:prstGeom prst="rect">
            <a:avLst/>
          </a:prstGeom>
          <a:solidFill>
            <a:srgbClr val="4F46E5">
              <a:alpha val="30000"/>
            </a:srgbClr>
          </a:solidFill>
          <a:ln w="12700">
            <a:solidFill>
              <a:srgbClr val="4F46E5"/>
            </a:solidFill>
            <a:prstDash val="solid"/>
          </a:ln>
        </p:spPr>
      </p:sp>
      <p:sp>
        <p:nvSpPr>
          <p:cNvPr id="18" name="Text 16"/>
          <p:cNvSpPr/>
          <p:nvPr/>
        </p:nvSpPr>
        <p:spPr>
          <a:xfrm>
            <a:off x="6172200" y="2624328"/>
            <a:ext cx="1280160" cy="182880"/>
          </a:xfrm>
          <a:prstGeom prst="rect">
            <a:avLst/>
          </a:prstGeom>
          <a:noFill/>
          <a:ln/>
        </p:spPr>
        <p:txBody>
          <a:bodyPr wrap="square" lIns="0" tIns="0" rIns="0" bIns="0" rtlCol="0" anchor="ctr"/>
          <a:lstStyle/>
          <a:p>
            <a:pPr algn="ctr" indent="0" marL="0">
              <a:buNone/>
            </a:pPr>
            <a:r>
              <a:rPr lang="en-US" sz="750" b="1" spc="100" kern="0" dirty="0">
                <a:solidFill>
                  <a:srgbClr val="4F46E5"/>
                </a:solidFill>
              </a:rPr>
              <a:t>Features</a:t>
            </a:r>
            <a:endParaRPr lang="en-US" sz="750" dirty="0"/>
          </a:p>
        </p:txBody>
      </p:sp>
      <p:sp>
        <p:nvSpPr>
          <p:cNvPr id="19" name="Shape 17"/>
          <p:cNvSpPr/>
          <p:nvPr/>
        </p:nvSpPr>
        <p:spPr>
          <a:xfrm>
            <a:off x="1691640" y="3291840"/>
            <a:ext cx="2606040" cy="1463040"/>
          </a:xfrm>
          <a:prstGeom prst="rect">
            <a:avLst/>
          </a:prstGeom>
          <a:solidFill>
            <a:srgbClr val="10B981">
              <a:alpha val="10000"/>
            </a:srgbClr>
          </a:solidFill>
          <a:ln w="12700">
            <a:solidFill>
              <a:srgbClr val="10B981"/>
            </a:solidFill>
            <a:prstDash val="solid"/>
          </a:ln>
        </p:spPr>
      </p:sp>
      <p:sp>
        <p:nvSpPr>
          <p:cNvPr id="20" name="Text 18"/>
          <p:cNvSpPr/>
          <p:nvPr/>
        </p:nvSpPr>
        <p:spPr>
          <a:xfrm>
            <a:off x="1828800" y="3401568"/>
            <a:ext cx="457200" cy="411480"/>
          </a:xfrm>
          <a:prstGeom prst="rect">
            <a:avLst/>
          </a:prstGeom>
          <a:noFill/>
          <a:ln/>
        </p:spPr>
        <p:txBody>
          <a:bodyPr wrap="square" lIns="0" tIns="0" rIns="0" bIns="0" rtlCol="0" anchor="ctr"/>
          <a:lstStyle/>
          <a:p>
            <a:pPr indent="0" marL="0">
              <a:buNone/>
            </a:pPr>
            <a:r>
              <a:rPr lang="en-US" sz="2200" b="1" dirty="0">
                <a:solidFill>
                  <a:srgbClr val="10B981"/>
                </a:solidFill>
              </a:rPr>
              <a:t>04</a:t>
            </a:r>
            <a:endParaRPr lang="en-US" sz="2200" dirty="0"/>
          </a:p>
        </p:txBody>
      </p:sp>
      <p:sp>
        <p:nvSpPr>
          <p:cNvPr id="21" name="Text 19"/>
          <p:cNvSpPr/>
          <p:nvPr/>
        </p:nvSpPr>
        <p:spPr>
          <a:xfrm>
            <a:off x="1828800" y="3822192"/>
            <a:ext cx="2377440" cy="548640"/>
          </a:xfrm>
          <a:prstGeom prst="rect">
            <a:avLst/>
          </a:prstGeom>
          <a:noFill/>
          <a:ln/>
        </p:spPr>
        <p:txBody>
          <a:bodyPr wrap="square" lIns="0" tIns="0" rIns="0" bIns="0" rtlCol="0" anchor="ctr"/>
          <a:lstStyle/>
          <a:p>
            <a:pPr indent="0" marL="0">
              <a:buNone/>
            </a:pPr>
            <a:r>
              <a:rPr lang="en-US" sz="1050" b="1" dirty="0">
                <a:solidFill>
                  <a:srgbClr val="FFFFFF"/>
                </a:solidFill>
              </a:rPr>
              <a:t>B2B Gifting is Uncontested White Space</a:t>
            </a:r>
            <a:endParaRPr lang="en-US" sz="1050" dirty="0"/>
          </a:p>
        </p:txBody>
      </p:sp>
      <p:sp>
        <p:nvSpPr>
          <p:cNvPr id="22" name="Shape 20"/>
          <p:cNvSpPr/>
          <p:nvPr/>
        </p:nvSpPr>
        <p:spPr>
          <a:xfrm>
            <a:off x="1828800" y="4407408"/>
            <a:ext cx="1280160" cy="182880"/>
          </a:xfrm>
          <a:prstGeom prst="rect">
            <a:avLst/>
          </a:prstGeom>
          <a:solidFill>
            <a:srgbClr val="10B981">
              <a:alpha val="30000"/>
            </a:srgbClr>
          </a:solidFill>
          <a:ln w="12700">
            <a:solidFill>
              <a:srgbClr val="10B981"/>
            </a:solidFill>
            <a:prstDash val="solid"/>
          </a:ln>
        </p:spPr>
      </p:sp>
      <p:sp>
        <p:nvSpPr>
          <p:cNvPr id="23" name="Text 21"/>
          <p:cNvSpPr/>
          <p:nvPr/>
        </p:nvSpPr>
        <p:spPr>
          <a:xfrm>
            <a:off x="1828800" y="4407408"/>
            <a:ext cx="1280160" cy="182880"/>
          </a:xfrm>
          <a:prstGeom prst="rect">
            <a:avLst/>
          </a:prstGeom>
          <a:noFill/>
          <a:ln/>
        </p:spPr>
        <p:txBody>
          <a:bodyPr wrap="square" lIns="0" tIns="0" rIns="0" bIns="0" rtlCol="0" anchor="ctr"/>
          <a:lstStyle/>
          <a:p>
            <a:pPr algn="ctr" indent="0" marL="0">
              <a:buNone/>
            </a:pPr>
            <a:r>
              <a:rPr lang="en-US" sz="750" b="1" spc="100" kern="0" dirty="0">
                <a:solidFill>
                  <a:srgbClr val="10B981"/>
                </a:solidFill>
              </a:rPr>
              <a:t>Competitor Analysis</a:t>
            </a:r>
            <a:endParaRPr lang="en-US" sz="750" dirty="0"/>
          </a:p>
        </p:txBody>
      </p:sp>
      <p:sp>
        <p:nvSpPr>
          <p:cNvPr id="24" name="Shape 22"/>
          <p:cNvSpPr/>
          <p:nvPr/>
        </p:nvSpPr>
        <p:spPr>
          <a:xfrm>
            <a:off x="4526280" y="3291840"/>
            <a:ext cx="2606040" cy="1463040"/>
          </a:xfrm>
          <a:prstGeom prst="rect">
            <a:avLst/>
          </a:prstGeom>
          <a:solidFill>
            <a:srgbClr val="7C3AED">
              <a:alpha val="10000"/>
            </a:srgbClr>
          </a:solidFill>
          <a:ln w="12700">
            <a:solidFill>
              <a:srgbClr val="7C3AED"/>
            </a:solidFill>
            <a:prstDash val="solid"/>
          </a:ln>
        </p:spPr>
      </p:sp>
      <p:sp>
        <p:nvSpPr>
          <p:cNvPr id="25" name="Text 23"/>
          <p:cNvSpPr/>
          <p:nvPr/>
        </p:nvSpPr>
        <p:spPr>
          <a:xfrm>
            <a:off x="4663440" y="3401568"/>
            <a:ext cx="457200" cy="411480"/>
          </a:xfrm>
          <a:prstGeom prst="rect">
            <a:avLst/>
          </a:prstGeom>
          <a:noFill/>
          <a:ln/>
        </p:spPr>
        <p:txBody>
          <a:bodyPr wrap="square" lIns="0" tIns="0" rIns="0" bIns="0" rtlCol="0" anchor="ctr"/>
          <a:lstStyle/>
          <a:p>
            <a:pPr indent="0" marL="0">
              <a:buNone/>
            </a:pPr>
            <a:r>
              <a:rPr lang="en-US" sz="2200" b="1" dirty="0">
                <a:solidFill>
                  <a:srgbClr val="7C3AED"/>
                </a:solidFill>
              </a:rPr>
              <a:t>05</a:t>
            </a:r>
            <a:endParaRPr lang="en-US" sz="2200" dirty="0"/>
          </a:p>
        </p:txBody>
      </p:sp>
      <p:sp>
        <p:nvSpPr>
          <p:cNvPr id="26" name="Text 24"/>
          <p:cNvSpPr/>
          <p:nvPr/>
        </p:nvSpPr>
        <p:spPr>
          <a:xfrm>
            <a:off x="4663440" y="3822192"/>
            <a:ext cx="2377440" cy="548640"/>
          </a:xfrm>
          <a:prstGeom prst="rect">
            <a:avLst/>
          </a:prstGeom>
          <a:noFill/>
          <a:ln/>
        </p:spPr>
        <p:txBody>
          <a:bodyPr wrap="square" lIns="0" tIns="0" rIns="0" bIns="0" rtlCol="0" anchor="ctr"/>
          <a:lstStyle/>
          <a:p>
            <a:pPr indent="0" marL="0">
              <a:buNone/>
            </a:pPr>
            <a:r>
              <a:rPr lang="en-US" sz="1050" b="1" dirty="0">
                <a:solidFill>
                  <a:srgbClr val="FFFFFF"/>
                </a:solidFill>
              </a:rPr>
              <a:t>ONDC + Local Subs = Unfair Advantage</a:t>
            </a:r>
            <a:endParaRPr lang="en-US" sz="1050" dirty="0"/>
          </a:p>
        </p:txBody>
      </p:sp>
      <p:sp>
        <p:nvSpPr>
          <p:cNvPr id="27" name="Shape 25"/>
          <p:cNvSpPr/>
          <p:nvPr/>
        </p:nvSpPr>
        <p:spPr>
          <a:xfrm>
            <a:off x="4663440" y="4407408"/>
            <a:ext cx="1280160" cy="182880"/>
          </a:xfrm>
          <a:prstGeom prst="rect">
            <a:avLst/>
          </a:prstGeom>
          <a:solidFill>
            <a:srgbClr val="7C3AED">
              <a:alpha val="30000"/>
            </a:srgbClr>
          </a:solidFill>
          <a:ln w="12700">
            <a:solidFill>
              <a:srgbClr val="7C3AED"/>
            </a:solidFill>
            <a:prstDash val="solid"/>
          </a:ln>
        </p:spPr>
      </p:sp>
      <p:sp>
        <p:nvSpPr>
          <p:cNvPr id="28" name="Text 26"/>
          <p:cNvSpPr/>
          <p:nvPr/>
        </p:nvSpPr>
        <p:spPr>
          <a:xfrm>
            <a:off x="4663440" y="4407408"/>
            <a:ext cx="1280160" cy="182880"/>
          </a:xfrm>
          <a:prstGeom prst="rect">
            <a:avLst/>
          </a:prstGeom>
          <a:noFill/>
          <a:ln/>
        </p:spPr>
        <p:txBody>
          <a:bodyPr wrap="square" lIns="0" tIns="0" rIns="0" bIns="0" rtlCol="0" anchor="ctr"/>
          <a:lstStyle/>
          <a:p>
            <a:pPr algn="ctr" indent="0" marL="0">
              <a:buNone/>
            </a:pPr>
            <a:r>
              <a:rPr lang="en-US" sz="750" b="1" spc="100" kern="0" dirty="0">
                <a:solidFill>
                  <a:srgbClr val="7C3AED"/>
                </a:solidFill>
              </a:rPr>
              <a:t>Potential Collaborations</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71600" cy="256032"/>
          </a:xfrm>
          <a:prstGeom prst="roundRect">
            <a:avLst/>
          </a:prstGeom>
          <a:solidFill>
            <a:srgbClr val="EF4444">
              <a:alpha val="15000"/>
            </a:srgbClr>
          </a:solidFill>
          <a:ln w="12700">
            <a:solidFill>
              <a:srgbClr val="EF4444"/>
            </a:solidFill>
            <a:prstDash val="solid"/>
          </a:ln>
        </p:spPr>
      </p:sp>
      <p:sp>
        <p:nvSpPr>
          <p:cNvPr id="3" name="Text 1"/>
          <p:cNvSpPr/>
          <p:nvPr/>
        </p:nvSpPr>
        <p:spPr>
          <a:xfrm>
            <a:off x="457200" y="292608"/>
            <a:ext cx="1371600" cy="228600"/>
          </a:xfrm>
          <a:prstGeom prst="rect">
            <a:avLst/>
          </a:prstGeom>
          <a:noFill/>
          <a:ln/>
        </p:spPr>
        <p:txBody>
          <a:bodyPr wrap="square" lIns="0" tIns="0" rIns="0" bIns="0" rtlCol="0" anchor="ctr"/>
          <a:lstStyle/>
          <a:p>
            <a:pPr algn="ctr" indent="0" marL="0">
              <a:buNone/>
            </a:pPr>
            <a:r>
              <a:rPr lang="en-US" sz="800" b="1" spc="150" kern="0" dirty="0">
                <a:solidFill>
                  <a:srgbClr val="EF4444"/>
                </a:solidFill>
              </a:rPr>
              <a:t>01 / UX</a:t>
            </a:r>
            <a:endParaRPr lang="en-US" sz="800" dirty="0"/>
          </a:p>
        </p:txBody>
      </p:sp>
      <p:sp>
        <p:nvSpPr>
          <p:cNvPr id="4" name="Text 2"/>
          <p:cNvSpPr/>
          <p:nvPr/>
        </p:nvSpPr>
        <p:spPr>
          <a:xfrm>
            <a:off x="457200" y="594360"/>
            <a:ext cx="8229600" cy="54864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Trust Collapse in Group Sharing</a:t>
            </a:r>
            <a:endParaRPr lang="en-US" sz="2600" dirty="0"/>
          </a:p>
        </p:txBody>
      </p:sp>
      <p:sp>
        <p:nvSpPr>
          <p:cNvPr id="5" name="Shape 3"/>
          <p:cNvSpPr/>
          <p:nvPr/>
        </p:nvSpPr>
        <p:spPr>
          <a:xfrm>
            <a:off x="457200"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261872"/>
            <a:ext cx="50292" cy="3108960"/>
          </a:xfrm>
          <a:prstGeom prst="rect">
            <a:avLst/>
          </a:prstGeom>
          <a:solidFill>
            <a:srgbClr val="4F46E5"/>
          </a:solidFill>
          <a:ln w="12700">
            <a:solidFill>
              <a:srgbClr val="4F46E5"/>
            </a:solidFill>
            <a:prstDash val="solid"/>
          </a:ln>
        </p:spPr>
      </p:sp>
      <p:sp>
        <p:nvSpPr>
          <p:cNvPr id="7" name="Text 5"/>
          <p:cNvSpPr/>
          <p:nvPr/>
        </p:nvSpPr>
        <p:spPr>
          <a:xfrm>
            <a:off x="594360"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OBSERVED</a:t>
            </a:r>
            <a:endParaRPr lang="en-US" sz="1100" dirty="0"/>
          </a:p>
        </p:txBody>
      </p:sp>
      <p:sp>
        <p:nvSpPr>
          <p:cNvPr id="8" name="Text 6"/>
          <p:cNvSpPr/>
          <p:nvPr/>
        </p:nvSpPr>
        <p:spPr>
          <a:xfrm>
            <a:off x="594360"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Users can be arbitrarily removed from shared subscription groups by admins. Play Store reviews show a user removed for requesting an OTP twice (Amazon auto-logout). After leaving a 1★ review, that user was removed from multiple new groups — suggesting retaliatory admin networks. The admin side has no transparency to members.</a:t>
            </a:r>
            <a:endParaRPr lang="en-US" sz="950" dirty="0"/>
          </a:p>
        </p:txBody>
      </p:sp>
      <p:sp>
        <p:nvSpPr>
          <p:cNvPr id="9" name="Shape 7"/>
          <p:cNvSpPr/>
          <p:nvPr/>
        </p:nvSpPr>
        <p:spPr>
          <a:xfrm>
            <a:off x="3273552"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0" name="Shape 8"/>
          <p:cNvSpPr/>
          <p:nvPr/>
        </p:nvSpPr>
        <p:spPr>
          <a:xfrm>
            <a:off x="3273552" y="1261872"/>
            <a:ext cx="50292" cy="3108960"/>
          </a:xfrm>
          <a:prstGeom prst="rect">
            <a:avLst/>
          </a:prstGeom>
          <a:solidFill>
            <a:srgbClr val="EF4444"/>
          </a:solidFill>
          <a:ln w="12700">
            <a:solidFill>
              <a:srgbClr val="EF4444"/>
            </a:solidFill>
            <a:prstDash val="solid"/>
          </a:ln>
        </p:spPr>
      </p:sp>
      <p:sp>
        <p:nvSpPr>
          <p:cNvPr id="11" name="Text 9"/>
          <p:cNvSpPr/>
          <p:nvPr/>
        </p:nvSpPr>
        <p:spPr>
          <a:xfrm>
            <a:off x="3410712"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PROBLEM</a:t>
            </a:r>
            <a:endParaRPr lang="en-US" sz="1100" dirty="0"/>
          </a:p>
        </p:txBody>
      </p:sp>
      <p:sp>
        <p:nvSpPr>
          <p:cNvPr id="12" name="Text 10"/>
          <p:cNvSpPr/>
          <p:nvPr/>
        </p:nvSpPr>
        <p:spPr>
          <a:xfrm>
            <a:off x="3410712"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Subspace's group-sharing moat depends on repeat purchase and social trust. But the platform treats admins as unchecked landlords. When a non-admin's Netflix session expires or Amazon logs them out, the reflex is to blame them — not the OTT platform. One bad admin experience can break the habit loop permanently. 16 users flagged this in one review alone.</a:t>
            </a:r>
            <a:endParaRPr lang="en-US" sz="950" dirty="0"/>
          </a:p>
        </p:txBody>
      </p:sp>
      <p:sp>
        <p:nvSpPr>
          <p:cNvPr id="13" name="Shape 11"/>
          <p:cNvSpPr/>
          <p:nvPr/>
        </p:nvSpPr>
        <p:spPr>
          <a:xfrm>
            <a:off x="6080760"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4" name="Shape 12"/>
          <p:cNvSpPr/>
          <p:nvPr/>
        </p:nvSpPr>
        <p:spPr>
          <a:xfrm>
            <a:off x="6080760" y="1261872"/>
            <a:ext cx="50292" cy="3108960"/>
          </a:xfrm>
          <a:prstGeom prst="rect">
            <a:avLst/>
          </a:prstGeom>
          <a:solidFill>
            <a:srgbClr val="10B981"/>
          </a:solidFill>
          <a:ln w="12700">
            <a:solidFill>
              <a:srgbClr val="10B981"/>
            </a:solidFill>
            <a:prstDash val="solid"/>
          </a:ln>
        </p:spPr>
      </p:sp>
      <p:sp>
        <p:nvSpPr>
          <p:cNvPr id="15" name="Text 13"/>
          <p:cNvSpPr/>
          <p:nvPr/>
        </p:nvSpPr>
        <p:spPr>
          <a:xfrm>
            <a:off x="6217920"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SHIP INSTEAD</a:t>
            </a:r>
            <a:endParaRPr lang="en-US" sz="1100" dirty="0"/>
          </a:p>
        </p:txBody>
      </p:sp>
      <p:sp>
        <p:nvSpPr>
          <p:cNvPr id="16" name="Text 14"/>
          <p:cNvSpPr/>
          <p:nvPr/>
        </p:nvSpPr>
        <p:spPr>
          <a:xfrm>
            <a:off x="6217920"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1. Admin removal requires a 24-hr grace period + member notification with reason</a:t>
            </a:r>
            <a:endParaRPr lang="en-US" sz="950" dirty="0"/>
          </a:p>
          <a:p>
            <a:pPr indent="0" marL="0">
              <a:buNone/>
            </a:pPr>
            <a:r>
              <a:rPr lang="en-US" sz="950" dirty="0">
                <a:solidFill>
                  <a:srgbClr val="64748B"/>
                </a:solidFill>
              </a:rPr>
              <a:t>2. 'Slot reputation score' visible to members before joining a group</a:t>
            </a:r>
            <a:endParaRPr lang="en-US" sz="950" dirty="0"/>
          </a:p>
          <a:p>
            <a:pPr indent="0" marL="0">
              <a:buNone/>
            </a:pPr>
            <a:r>
              <a:rPr lang="en-US" sz="950" dirty="0">
                <a:solidFill>
                  <a:srgbClr val="64748B"/>
                </a:solidFill>
              </a:rPr>
              <a:t>3. OTT-login-failure (OTP reuse, session expiry) auto-classified as system event — not member fault</a:t>
            </a:r>
            <a:endParaRPr lang="en-US" sz="950" dirty="0"/>
          </a:p>
          <a:p>
            <a:pPr indent="0" marL="0">
              <a:buNone/>
            </a:pPr>
            <a:r>
              <a:rPr lang="en-US" sz="950" dirty="0">
                <a:solidFill>
                  <a:srgbClr val="64748B"/>
                </a:solidFill>
              </a:rPr>
              <a:t>4. Escalation flow: dispute admin action → Subspace support SLA 4 hrs</a:t>
            </a:r>
            <a:endParaRPr lang="en-US" sz="950" dirty="0"/>
          </a:p>
        </p:txBody>
      </p:sp>
      <p:sp>
        <p:nvSpPr>
          <p:cNvPr id="17" name="Text 15"/>
          <p:cNvSpPr/>
          <p:nvPr/>
        </p:nvSpPr>
        <p:spPr>
          <a:xfrm>
            <a:off x="457200" y="4572000"/>
            <a:ext cx="8412480" cy="274320"/>
          </a:xfrm>
          <a:prstGeom prst="rect">
            <a:avLst/>
          </a:prstGeom>
          <a:noFill/>
          <a:ln/>
        </p:spPr>
        <p:txBody>
          <a:bodyPr wrap="square" rtlCol="0" anchor="ctr"/>
          <a:lstStyle/>
          <a:p>
            <a:pPr indent="0" marL="0">
              <a:buNone/>
            </a:pPr>
            <a:r>
              <a:rPr lang="en-US" sz="900" i="1" dirty="0">
                <a:solidFill>
                  <a:srgbClr val="64748B"/>
                </a:solidFill>
              </a:rPr>
              <a:t>Priority: P0 — directly erodes the group-sharing network effect that is Subspace's core moat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71600" cy="256032"/>
          </a:xfrm>
          <a:prstGeom prst="roundRect">
            <a:avLst/>
          </a:prstGeom>
          <a:solidFill>
            <a:srgbClr val="F59E0B">
              <a:alpha val="15000"/>
            </a:srgbClr>
          </a:solidFill>
          <a:ln w="12700">
            <a:solidFill>
              <a:srgbClr val="F59E0B"/>
            </a:solidFill>
            <a:prstDash val="solid"/>
          </a:ln>
        </p:spPr>
      </p:sp>
      <p:sp>
        <p:nvSpPr>
          <p:cNvPr id="3" name="Text 1"/>
          <p:cNvSpPr/>
          <p:nvPr/>
        </p:nvSpPr>
        <p:spPr>
          <a:xfrm>
            <a:off x="457200" y="292608"/>
            <a:ext cx="1371600" cy="228600"/>
          </a:xfrm>
          <a:prstGeom prst="rect">
            <a:avLst/>
          </a:prstGeom>
          <a:noFill/>
          <a:ln/>
        </p:spPr>
        <p:txBody>
          <a:bodyPr wrap="square" lIns="0" tIns="0" rIns="0" bIns="0" rtlCol="0" anchor="ctr"/>
          <a:lstStyle/>
          <a:p>
            <a:pPr algn="ctr" indent="0" marL="0">
              <a:buNone/>
            </a:pPr>
            <a:r>
              <a:rPr lang="en-US" sz="800" b="1" spc="150" kern="0" dirty="0">
                <a:solidFill>
                  <a:srgbClr val="F59E0B"/>
                </a:solidFill>
              </a:rPr>
              <a:t>02 / GTM &amp; ICPs</a:t>
            </a:r>
            <a:endParaRPr lang="en-US" sz="800" dirty="0"/>
          </a:p>
        </p:txBody>
      </p:sp>
      <p:sp>
        <p:nvSpPr>
          <p:cNvPr id="4" name="Text 2"/>
          <p:cNvSpPr/>
          <p:nvPr/>
        </p:nvSpPr>
        <p:spPr>
          <a:xfrm>
            <a:off x="457200" y="594360"/>
            <a:ext cx="8229600" cy="54864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Onboarding Hides the Value Prop</a:t>
            </a:r>
            <a:endParaRPr lang="en-US" sz="2600" dirty="0"/>
          </a:p>
        </p:txBody>
      </p:sp>
      <p:sp>
        <p:nvSpPr>
          <p:cNvPr id="5" name="Shape 3"/>
          <p:cNvSpPr/>
          <p:nvPr/>
        </p:nvSpPr>
        <p:spPr>
          <a:xfrm>
            <a:off x="457200"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261872"/>
            <a:ext cx="50292" cy="3108960"/>
          </a:xfrm>
          <a:prstGeom prst="rect">
            <a:avLst/>
          </a:prstGeom>
          <a:solidFill>
            <a:srgbClr val="F59E0B"/>
          </a:solidFill>
          <a:ln w="12700">
            <a:solidFill>
              <a:srgbClr val="F59E0B"/>
            </a:solidFill>
            <a:prstDash val="solid"/>
          </a:ln>
        </p:spPr>
      </p:sp>
      <p:sp>
        <p:nvSpPr>
          <p:cNvPr id="7" name="Text 5"/>
          <p:cNvSpPr/>
          <p:nvPr/>
        </p:nvSpPr>
        <p:spPr>
          <a:xfrm>
            <a:off x="594360"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OBSERVED</a:t>
            </a:r>
            <a:endParaRPr lang="en-US" sz="1100" dirty="0"/>
          </a:p>
        </p:txBody>
      </p:sp>
      <p:sp>
        <p:nvSpPr>
          <p:cNvPr id="8" name="Text 6"/>
          <p:cNvSpPr/>
          <p:nvPr/>
        </p:nvSpPr>
        <p:spPr>
          <a:xfrm>
            <a:off x="594360"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The landing page (web) opens with a location-gating modal and 'Delivery in minutes' messaging — indistinguishable from a quick-commerce app. New users who aren't in a delivery-enabled city see a nearly empty screen. The signup is phone OTP only, with no mention of 80% subscription savings, gift cards, or group finance in the first 3 screens.</a:t>
            </a:r>
            <a:endParaRPr lang="en-US" sz="950" dirty="0"/>
          </a:p>
        </p:txBody>
      </p:sp>
      <p:sp>
        <p:nvSpPr>
          <p:cNvPr id="9" name="Shape 7"/>
          <p:cNvSpPr/>
          <p:nvPr/>
        </p:nvSpPr>
        <p:spPr>
          <a:xfrm>
            <a:off x="3273552"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0" name="Shape 8"/>
          <p:cNvSpPr/>
          <p:nvPr/>
        </p:nvSpPr>
        <p:spPr>
          <a:xfrm>
            <a:off x="3273552" y="1261872"/>
            <a:ext cx="50292" cy="3108960"/>
          </a:xfrm>
          <a:prstGeom prst="rect">
            <a:avLst/>
          </a:prstGeom>
          <a:solidFill>
            <a:srgbClr val="EF4444"/>
          </a:solidFill>
          <a:ln w="12700">
            <a:solidFill>
              <a:srgbClr val="EF4444"/>
            </a:solidFill>
            <a:prstDash val="solid"/>
          </a:ln>
        </p:spPr>
      </p:sp>
      <p:sp>
        <p:nvSpPr>
          <p:cNvPr id="11" name="Text 9"/>
          <p:cNvSpPr/>
          <p:nvPr/>
        </p:nvSpPr>
        <p:spPr>
          <a:xfrm>
            <a:off x="3410712"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PROBLEM</a:t>
            </a:r>
            <a:endParaRPr lang="en-US" sz="1100" dirty="0"/>
          </a:p>
        </p:txBody>
      </p:sp>
      <p:sp>
        <p:nvSpPr>
          <p:cNvPr id="12" name="Text 10"/>
          <p:cNvSpPr/>
          <p:nvPr/>
        </p:nvSpPr>
        <p:spPr>
          <a:xfrm>
            <a:off x="3410712"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Subspace has 3 distinct ICPs: (a) college students/young professionals saving on OTT, (b) group admins monetising their subscriptions, (c) SMB/gifting buyers. The current onboarding speaks to none of them specifically. The 'delivery in minutes' frame activates Blinkit/Zepto anchoring — users price-compare a different category. Top-of-funnel messaging misaligns with the ₹500–₹2000/yr saving narrative.</a:t>
            </a:r>
            <a:endParaRPr lang="en-US" sz="950" dirty="0"/>
          </a:p>
        </p:txBody>
      </p:sp>
      <p:sp>
        <p:nvSpPr>
          <p:cNvPr id="13" name="Shape 11"/>
          <p:cNvSpPr/>
          <p:nvPr/>
        </p:nvSpPr>
        <p:spPr>
          <a:xfrm>
            <a:off x="6080760"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4" name="Shape 12"/>
          <p:cNvSpPr/>
          <p:nvPr/>
        </p:nvSpPr>
        <p:spPr>
          <a:xfrm>
            <a:off x="6080760" y="1261872"/>
            <a:ext cx="50292" cy="3108960"/>
          </a:xfrm>
          <a:prstGeom prst="rect">
            <a:avLst/>
          </a:prstGeom>
          <a:solidFill>
            <a:srgbClr val="10B981"/>
          </a:solidFill>
          <a:ln w="12700">
            <a:solidFill>
              <a:srgbClr val="10B981"/>
            </a:solidFill>
            <a:prstDash val="solid"/>
          </a:ln>
        </p:spPr>
      </p:sp>
      <p:sp>
        <p:nvSpPr>
          <p:cNvPr id="15" name="Text 13"/>
          <p:cNvSpPr/>
          <p:nvPr/>
        </p:nvSpPr>
        <p:spPr>
          <a:xfrm>
            <a:off x="6217920"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SHIP INSTEAD</a:t>
            </a:r>
            <a:endParaRPr lang="en-US" sz="1100" dirty="0"/>
          </a:p>
        </p:txBody>
      </p:sp>
      <p:sp>
        <p:nvSpPr>
          <p:cNvPr id="16" name="Text 14"/>
          <p:cNvSpPr/>
          <p:nvPr/>
        </p:nvSpPr>
        <p:spPr>
          <a:xfrm>
            <a:off x="6217920"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1. ICP-branching onboarding: 'What brings you here?' → Subs/Rentals/Gift Cards — personalises home feed</a:t>
            </a:r>
            <a:endParaRPr lang="en-US" sz="950" dirty="0"/>
          </a:p>
          <a:p>
            <a:pPr indent="0" marL="0">
              <a:buNone/>
            </a:pPr>
            <a:r>
              <a:rPr lang="en-US" sz="950" dirty="0">
                <a:solidFill>
                  <a:srgbClr val="64748B"/>
                </a:solidFill>
              </a:rPr>
              <a:t>2. Show savings proof before location ask: 'Users in your city save ₹1,800/yr on avg'</a:t>
            </a:r>
            <a:endParaRPr lang="en-US" sz="950" dirty="0"/>
          </a:p>
          <a:p>
            <a:pPr indent="0" marL="0">
              <a:buNone/>
            </a:pPr>
            <a:r>
              <a:rPr lang="en-US" sz="950" dirty="0">
                <a:solidFill>
                  <a:srgbClr val="64748B"/>
                </a:solidFill>
              </a:rPr>
              <a:t>3. Separate GTM for college campuses (student deals, .edu email verification) vs. family-sharing personas</a:t>
            </a:r>
            <a:endParaRPr lang="en-US" sz="950" dirty="0"/>
          </a:p>
          <a:p>
            <a:pPr indent="0" marL="0">
              <a:buNone/>
            </a:pPr>
            <a:r>
              <a:rPr lang="en-US" sz="950" dirty="0">
                <a:solidFill>
                  <a:srgbClr val="64748B"/>
                </a:solidFill>
              </a:rPr>
              <a:t>4. Remove location-gate from web homepage; show marketplace first</a:t>
            </a:r>
            <a:endParaRPr lang="en-US" sz="950" dirty="0"/>
          </a:p>
        </p:txBody>
      </p:sp>
      <p:sp>
        <p:nvSpPr>
          <p:cNvPr id="17" name="Text 15"/>
          <p:cNvSpPr/>
          <p:nvPr/>
        </p:nvSpPr>
        <p:spPr>
          <a:xfrm>
            <a:off x="457200" y="4572000"/>
            <a:ext cx="8412480" cy="274320"/>
          </a:xfrm>
          <a:prstGeom prst="rect">
            <a:avLst/>
          </a:prstGeom>
          <a:noFill/>
          <a:ln/>
        </p:spPr>
        <p:txBody>
          <a:bodyPr wrap="square" rtlCol="0" anchor="ctr"/>
          <a:lstStyle/>
          <a:p>
            <a:pPr indent="0" marL="0">
              <a:buNone/>
            </a:pPr>
            <a:r>
              <a:rPr lang="en-US" sz="900" i="1" dirty="0">
                <a:solidFill>
                  <a:srgbClr val="64748B"/>
                </a:solidFill>
              </a:rPr>
              <a:t>Priority: P1 — poor onboarding-to-activation rate limits the top of the funnel for a bootstrapped team with zero paid UA budget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71600" cy="256032"/>
          </a:xfrm>
          <a:prstGeom prst="roundRect">
            <a:avLst/>
          </a:prstGeom>
          <a:solidFill>
            <a:srgbClr val="4F46E5">
              <a:alpha val="15000"/>
            </a:srgbClr>
          </a:solidFill>
          <a:ln w="12700">
            <a:solidFill>
              <a:srgbClr val="4F46E5"/>
            </a:solidFill>
            <a:prstDash val="solid"/>
          </a:ln>
        </p:spPr>
      </p:sp>
      <p:sp>
        <p:nvSpPr>
          <p:cNvPr id="3" name="Text 1"/>
          <p:cNvSpPr/>
          <p:nvPr/>
        </p:nvSpPr>
        <p:spPr>
          <a:xfrm>
            <a:off x="457200" y="292608"/>
            <a:ext cx="1371600" cy="228600"/>
          </a:xfrm>
          <a:prstGeom prst="rect">
            <a:avLst/>
          </a:prstGeom>
          <a:noFill/>
          <a:ln/>
        </p:spPr>
        <p:txBody>
          <a:bodyPr wrap="square" lIns="0" tIns="0" rIns="0" bIns="0" rtlCol="0" anchor="ctr"/>
          <a:lstStyle/>
          <a:p>
            <a:pPr algn="ctr" indent="0" marL="0">
              <a:buNone/>
            </a:pPr>
            <a:r>
              <a:rPr lang="en-US" sz="800" b="1" spc="150" kern="0" dirty="0">
                <a:solidFill>
                  <a:srgbClr val="4F46E5"/>
                </a:solidFill>
              </a:rPr>
              <a:t>03 / Features</a:t>
            </a:r>
            <a:endParaRPr lang="en-US" sz="800" dirty="0"/>
          </a:p>
        </p:txBody>
      </p:sp>
      <p:sp>
        <p:nvSpPr>
          <p:cNvPr id="4" name="Text 2"/>
          <p:cNvSpPr/>
          <p:nvPr/>
        </p:nvSpPr>
        <p:spPr>
          <a:xfrm>
            <a:off x="457200" y="594360"/>
            <a:ext cx="8229600" cy="54864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Rentals Are a Ghost Feature</a:t>
            </a:r>
            <a:endParaRPr lang="en-US" sz="2600" dirty="0"/>
          </a:p>
        </p:txBody>
      </p:sp>
      <p:sp>
        <p:nvSpPr>
          <p:cNvPr id="5" name="Shape 3"/>
          <p:cNvSpPr/>
          <p:nvPr/>
        </p:nvSpPr>
        <p:spPr>
          <a:xfrm>
            <a:off x="457200"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261872"/>
            <a:ext cx="50292" cy="3108960"/>
          </a:xfrm>
          <a:prstGeom prst="rect">
            <a:avLst/>
          </a:prstGeom>
          <a:solidFill>
            <a:srgbClr val="4F46E5"/>
          </a:solidFill>
          <a:ln w="12700">
            <a:solidFill>
              <a:srgbClr val="4F46E5"/>
            </a:solidFill>
            <a:prstDash val="solid"/>
          </a:ln>
        </p:spPr>
      </p:sp>
      <p:sp>
        <p:nvSpPr>
          <p:cNvPr id="7" name="Text 5"/>
          <p:cNvSpPr/>
          <p:nvPr/>
        </p:nvSpPr>
        <p:spPr>
          <a:xfrm>
            <a:off x="594360"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OBSERVED</a:t>
            </a:r>
            <a:endParaRPr lang="en-US" sz="1100" dirty="0"/>
          </a:p>
        </p:txBody>
      </p:sp>
      <p:sp>
        <p:nvSpPr>
          <p:cNvPr id="8" name="Text 6"/>
          <p:cNvSpPr/>
          <p:nvPr/>
        </p:nvSpPr>
        <p:spPr>
          <a:xfrm>
            <a:off x="594360"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The app prominently advertises '10-minute gadget rental delivery'. In practice, inventory is unavailable in most Bengaluru localities, no rental items appear on the homepage, and the product category page shows zero items to users outside specific pin codes. The CTA 'Rent Now' leads to an empty state with no fallback, no waitlist, and no city expansion ETA.</a:t>
            </a:r>
            <a:endParaRPr lang="en-US" sz="950" dirty="0"/>
          </a:p>
        </p:txBody>
      </p:sp>
      <p:sp>
        <p:nvSpPr>
          <p:cNvPr id="9" name="Shape 7"/>
          <p:cNvSpPr/>
          <p:nvPr/>
        </p:nvSpPr>
        <p:spPr>
          <a:xfrm>
            <a:off x="3273552"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0" name="Shape 8"/>
          <p:cNvSpPr/>
          <p:nvPr/>
        </p:nvSpPr>
        <p:spPr>
          <a:xfrm>
            <a:off x="3273552" y="1261872"/>
            <a:ext cx="50292" cy="3108960"/>
          </a:xfrm>
          <a:prstGeom prst="rect">
            <a:avLst/>
          </a:prstGeom>
          <a:solidFill>
            <a:srgbClr val="EF4444"/>
          </a:solidFill>
          <a:ln w="12700">
            <a:solidFill>
              <a:srgbClr val="EF4444"/>
            </a:solidFill>
            <a:prstDash val="solid"/>
          </a:ln>
        </p:spPr>
      </p:sp>
      <p:sp>
        <p:nvSpPr>
          <p:cNvPr id="11" name="Text 9"/>
          <p:cNvSpPr/>
          <p:nvPr/>
        </p:nvSpPr>
        <p:spPr>
          <a:xfrm>
            <a:off x="3410712"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PROBLEM</a:t>
            </a:r>
            <a:endParaRPr lang="en-US" sz="1100" dirty="0"/>
          </a:p>
        </p:txBody>
      </p:sp>
      <p:sp>
        <p:nvSpPr>
          <p:cNvPr id="12" name="Text 10"/>
          <p:cNvSpPr/>
          <p:nvPr/>
        </p:nvSpPr>
        <p:spPr>
          <a:xfrm>
            <a:off x="3410712"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Empty states in a core feature erode brand trust disproportionately. When a user opens 'Rentals' and finds nothing, they apply that disappointment to Subspace overall — affecting their willingness to try subscriptions or gifting. Worse, the Play Store listing and marketing copy lead with Rentals, creating expectation debt at the top of the funnel. A half-launched vertical creates more damage than no vertical.</a:t>
            </a:r>
            <a:endParaRPr lang="en-US" sz="950" dirty="0"/>
          </a:p>
        </p:txBody>
      </p:sp>
      <p:sp>
        <p:nvSpPr>
          <p:cNvPr id="13" name="Shape 11"/>
          <p:cNvSpPr/>
          <p:nvPr/>
        </p:nvSpPr>
        <p:spPr>
          <a:xfrm>
            <a:off x="6080760"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4" name="Shape 12"/>
          <p:cNvSpPr/>
          <p:nvPr/>
        </p:nvSpPr>
        <p:spPr>
          <a:xfrm>
            <a:off x="6080760" y="1261872"/>
            <a:ext cx="50292" cy="3108960"/>
          </a:xfrm>
          <a:prstGeom prst="rect">
            <a:avLst/>
          </a:prstGeom>
          <a:solidFill>
            <a:srgbClr val="10B981"/>
          </a:solidFill>
          <a:ln w="12700">
            <a:solidFill>
              <a:srgbClr val="10B981"/>
            </a:solidFill>
            <a:prstDash val="solid"/>
          </a:ln>
        </p:spPr>
      </p:sp>
      <p:sp>
        <p:nvSpPr>
          <p:cNvPr id="15" name="Text 13"/>
          <p:cNvSpPr/>
          <p:nvPr/>
        </p:nvSpPr>
        <p:spPr>
          <a:xfrm>
            <a:off x="6217920"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SHIP INSTEAD</a:t>
            </a:r>
            <a:endParaRPr lang="en-US" sz="1100" dirty="0"/>
          </a:p>
        </p:txBody>
      </p:sp>
      <p:sp>
        <p:nvSpPr>
          <p:cNvPr id="16" name="Text 14"/>
          <p:cNvSpPr/>
          <p:nvPr/>
        </p:nvSpPr>
        <p:spPr>
          <a:xfrm>
            <a:off x="6217920"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Option A (if committed): Show real-time inventory availability map + city-specific ETA. Gate the feature behind 'Notify me when available in [city]' — turns empty state into a demand signal.</a:t>
            </a:r>
            <a:endParaRPr lang="en-US" sz="950" dirty="0"/>
          </a:p>
          <a:p>
            <a:pPr indent="0" marL="0">
              <a:buNone/>
            </a:pPr>
            <a:endParaRPr lang="en-US" sz="950" dirty="0"/>
          </a:p>
          <a:p>
            <a:pPr indent="0" marL="0">
              <a:buNone/>
            </a:pPr>
            <a:r>
              <a:rPr lang="en-US" sz="950" dirty="0">
                <a:solidFill>
                  <a:srgbClr val="64748B"/>
                </a:solidFill>
              </a:rPr>
              <a:t>Option B (if deprioritising): Quietly remove Rentals from primary nav and marketing copy; downgrade to 'Coming Soon' until 3+ cities are live. Do not advertise what can't be delivered.</a:t>
            </a:r>
            <a:endParaRPr lang="en-US" sz="950" dirty="0"/>
          </a:p>
        </p:txBody>
      </p:sp>
      <p:sp>
        <p:nvSpPr>
          <p:cNvPr id="17" name="Text 15"/>
          <p:cNvSpPr/>
          <p:nvPr/>
        </p:nvSpPr>
        <p:spPr>
          <a:xfrm>
            <a:off x="457200" y="4572000"/>
            <a:ext cx="8412480" cy="274320"/>
          </a:xfrm>
          <a:prstGeom prst="rect">
            <a:avLst/>
          </a:prstGeom>
          <a:noFill/>
          <a:ln/>
        </p:spPr>
        <p:txBody>
          <a:bodyPr wrap="square" rtlCol="0" anchor="ctr"/>
          <a:lstStyle/>
          <a:p>
            <a:pPr indent="0" marL="0">
              <a:buNone/>
            </a:pPr>
            <a:r>
              <a:rPr lang="en-US" sz="900" i="1" dirty="0">
                <a:solidFill>
                  <a:srgbClr val="64748B"/>
                </a:solidFill>
              </a:rPr>
              <a:t>Priority: P1 — tradeoff between ambition and credibility; empty-state debt compounds with every new user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71600" cy="256032"/>
          </a:xfrm>
          <a:prstGeom prst="roundRect">
            <a:avLst/>
          </a:prstGeom>
          <a:solidFill>
            <a:srgbClr val="10B981">
              <a:alpha val="15000"/>
            </a:srgbClr>
          </a:solidFill>
          <a:ln w="12700">
            <a:solidFill>
              <a:srgbClr val="10B981"/>
            </a:solidFill>
            <a:prstDash val="solid"/>
          </a:ln>
        </p:spPr>
      </p:sp>
      <p:sp>
        <p:nvSpPr>
          <p:cNvPr id="3" name="Text 1"/>
          <p:cNvSpPr/>
          <p:nvPr/>
        </p:nvSpPr>
        <p:spPr>
          <a:xfrm>
            <a:off x="457200" y="292608"/>
            <a:ext cx="1371600" cy="228600"/>
          </a:xfrm>
          <a:prstGeom prst="rect">
            <a:avLst/>
          </a:prstGeom>
          <a:noFill/>
          <a:ln/>
        </p:spPr>
        <p:txBody>
          <a:bodyPr wrap="square" lIns="0" tIns="0" rIns="0" bIns="0" rtlCol="0" anchor="ctr"/>
          <a:lstStyle/>
          <a:p>
            <a:pPr algn="ctr" indent="0" marL="0">
              <a:buNone/>
            </a:pPr>
            <a:r>
              <a:rPr lang="en-US" sz="800" b="1" spc="150" kern="0" dirty="0">
                <a:solidFill>
                  <a:srgbClr val="10B981"/>
                </a:solidFill>
              </a:rPr>
              <a:t>04 / Competitor Analysis</a:t>
            </a:r>
            <a:endParaRPr lang="en-US" sz="800" dirty="0"/>
          </a:p>
        </p:txBody>
      </p:sp>
      <p:sp>
        <p:nvSpPr>
          <p:cNvPr id="4" name="Text 2"/>
          <p:cNvSpPr/>
          <p:nvPr/>
        </p:nvSpPr>
        <p:spPr>
          <a:xfrm>
            <a:off x="457200" y="594360"/>
            <a:ext cx="8229600" cy="54864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B2B Gifting is Uncontested White Space</a:t>
            </a:r>
            <a:endParaRPr lang="en-US" sz="2600" dirty="0"/>
          </a:p>
        </p:txBody>
      </p:sp>
      <p:sp>
        <p:nvSpPr>
          <p:cNvPr id="5" name="Shape 3"/>
          <p:cNvSpPr/>
          <p:nvPr/>
        </p:nvSpPr>
        <p:spPr>
          <a:xfrm>
            <a:off x="457200"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261872"/>
            <a:ext cx="50292" cy="3108960"/>
          </a:xfrm>
          <a:prstGeom prst="rect">
            <a:avLst/>
          </a:prstGeom>
          <a:solidFill>
            <a:srgbClr val="10B981"/>
          </a:solidFill>
          <a:ln w="12700">
            <a:solidFill>
              <a:srgbClr val="10B981"/>
            </a:solidFill>
            <a:prstDash val="solid"/>
          </a:ln>
        </p:spPr>
      </p:sp>
      <p:sp>
        <p:nvSpPr>
          <p:cNvPr id="7" name="Text 5"/>
          <p:cNvSpPr/>
          <p:nvPr/>
        </p:nvSpPr>
        <p:spPr>
          <a:xfrm>
            <a:off x="594360"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OBSERVED</a:t>
            </a:r>
            <a:endParaRPr lang="en-US" sz="1100" dirty="0"/>
          </a:p>
        </p:txBody>
      </p:sp>
      <p:sp>
        <p:nvSpPr>
          <p:cNvPr id="8" name="Text 6"/>
          <p:cNvSpPr/>
          <p:nvPr/>
        </p:nvSpPr>
        <p:spPr>
          <a:xfrm>
            <a:off x="594360"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Subspace currently offers gift cards (Swiggy, Zomato, Amazon, etc.) only to individual B2C users. No bulk-purchase flow, no GST invoice generation, no custom branding or personalisation for corporate gifting. Direct competitors like Woohoo, Qwikcilver, and YFG (via Pine Labs) have corporate portals, HRtech integrations (Darwinbox, Keka) and volume discounts.</a:t>
            </a:r>
            <a:endParaRPr lang="en-US" sz="950" dirty="0"/>
          </a:p>
        </p:txBody>
      </p:sp>
      <p:sp>
        <p:nvSpPr>
          <p:cNvPr id="9" name="Shape 7"/>
          <p:cNvSpPr/>
          <p:nvPr/>
        </p:nvSpPr>
        <p:spPr>
          <a:xfrm>
            <a:off x="3273552"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0" name="Shape 8"/>
          <p:cNvSpPr/>
          <p:nvPr/>
        </p:nvSpPr>
        <p:spPr>
          <a:xfrm>
            <a:off x="3273552" y="1261872"/>
            <a:ext cx="50292" cy="3108960"/>
          </a:xfrm>
          <a:prstGeom prst="rect">
            <a:avLst/>
          </a:prstGeom>
          <a:solidFill>
            <a:srgbClr val="EF4444"/>
          </a:solidFill>
          <a:ln w="12700">
            <a:solidFill>
              <a:srgbClr val="EF4444"/>
            </a:solidFill>
            <a:prstDash val="solid"/>
          </a:ln>
        </p:spPr>
      </p:sp>
      <p:sp>
        <p:nvSpPr>
          <p:cNvPr id="11" name="Text 9"/>
          <p:cNvSpPr/>
          <p:nvPr/>
        </p:nvSpPr>
        <p:spPr>
          <a:xfrm>
            <a:off x="3410712"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PROBLEM</a:t>
            </a:r>
            <a:endParaRPr lang="en-US" sz="1100" dirty="0"/>
          </a:p>
        </p:txBody>
      </p:sp>
      <p:sp>
        <p:nvSpPr>
          <p:cNvPr id="12" name="Text 10"/>
          <p:cNvSpPr/>
          <p:nvPr/>
        </p:nvSpPr>
        <p:spPr>
          <a:xfrm>
            <a:off x="3410712"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India's corporate gifting market is $7.4B and growing at 11% YoY (RedSeer 2024). Q3 (Diwali) bulk orders are the highest-value, lowest-retention-risk revenue a gift-card platform can have. Without a B2B portal, Subspace leaves ₹15–30L/quarter on the table per mid-sized corporate client that Woohoo captures. The Negotiate API moat — cost advantage at scale — is being under-leveraged.</a:t>
            </a:r>
            <a:endParaRPr lang="en-US" sz="950" dirty="0"/>
          </a:p>
        </p:txBody>
      </p:sp>
      <p:sp>
        <p:nvSpPr>
          <p:cNvPr id="13" name="Shape 11"/>
          <p:cNvSpPr/>
          <p:nvPr/>
        </p:nvSpPr>
        <p:spPr>
          <a:xfrm>
            <a:off x="6080760"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4" name="Shape 12"/>
          <p:cNvSpPr/>
          <p:nvPr/>
        </p:nvSpPr>
        <p:spPr>
          <a:xfrm>
            <a:off x="6080760" y="1261872"/>
            <a:ext cx="50292" cy="3108960"/>
          </a:xfrm>
          <a:prstGeom prst="rect">
            <a:avLst/>
          </a:prstGeom>
          <a:solidFill>
            <a:srgbClr val="10B981"/>
          </a:solidFill>
          <a:ln w="12700">
            <a:solidFill>
              <a:srgbClr val="10B981"/>
            </a:solidFill>
            <a:prstDash val="solid"/>
          </a:ln>
        </p:spPr>
      </p:sp>
      <p:sp>
        <p:nvSpPr>
          <p:cNvPr id="15" name="Text 13"/>
          <p:cNvSpPr/>
          <p:nvPr/>
        </p:nvSpPr>
        <p:spPr>
          <a:xfrm>
            <a:off x="6217920"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SHIP INSTEAD</a:t>
            </a:r>
            <a:endParaRPr lang="en-US" sz="1100" dirty="0"/>
          </a:p>
        </p:txBody>
      </p:sp>
      <p:sp>
        <p:nvSpPr>
          <p:cNvPr id="16" name="Text 14"/>
          <p:cNvSpPr/>
          <p:nvPr/>
        </p:nvSpPr>
        <p:spPr>
          <a:xfrm>
            <a:off x="6217920"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1. 'Subspace for Teams' portal: bulk orders (50+ cards), GST invoice, custom logo</a:t>
            </a:r>
            <a:endParaRPr lang="en-US" sz="950" dirty="0"/>
          </a:p>
          <a:p>
            <a:pPr indent="0" marL="0">
              <a:buNone/>
            </a:pPr>
            <a:r>
              <a:rPr lang="en-US" sz="950" dirty="0">
                <a:solidFill>
                  <a:srgbClr val="64748B"/>
                </a:solidFill>
              </a:rPr>
              <a:t>2. HRtech plugin (Keka/Darwinbox) for birthday/work-anniversary automation</a:t>
            </a:r>
            <a:endParaRPr lang="en-US" sz="950" dirty="0"/>
          </a:p>
          <a:p>
            <a:pPr indent="0" marL="0">
              <a:buNone/>
            </a:pPr>
            <a:r>
              <a:rPr lang="en-US" sz="950" dirty="0">
                <a:solidFill>
                  <a:srgbClr val="64748B"/>
                </a:solidFill>
              </a:rPr>
              <a:t>3. Volume discounts: 5% extra off for &gt;100 cards, Negotiate API savings passed to B2B buyer</a:t>
            </a:r>
            <a:endParaRPr lang="en-US" sz="950" dirty="0"/>
          </a:p>
          <a:p>
            <a:pPr indent="0" marL="0">
              <a:buNone/>
            </a:pPr>
            <a:r>
              <a:rPr lang="en-US" sz="950" dirty="0">
                <a:solidFill>
                  <a:srgbClr val="64748B"/>
                </a:solidFill>
              </a:rPr>
              <a:t>4. Sales motion: 1 BDR targeting 200–2000 employee companies in Bengaluru to start</a:t>
            </a:r>
            <a:endParaRPr lang="en-US" sz="950" dirty="0"/>
          </a:p>
          <a:p>
            <a:pPr indent="0" marL="0">
              <a:buNone/>
            </a:pPr>
            <a:r>
              <a:rPr lang="en-US" sz="950" dirty="0">
                <a:solidFill>
                  <a:srgbClr val="64748B"/>
                </a:solidFill>
              </a:rPr>
              <a:t>5. Estimated CAC payback: &lt;3 months at current gift card margins</a:t>
            </a:r>
            <a:endParaRPr lang="en-US" sz="950" dirty="0"/>
          </a:p>
        </p:txBody>
      </p:sp>
      <p:sp>
        <p:nvSpPr>
          <p:cNvPr id="17" name="Text 15"/>
          <p:cNvSpPr/>
          <p:nvPr/>
        </p:nvSpPr>
        <p:spPr>
          <a:xfrm>
            <a:off x="457200" y="4572000"/>
            <a:ext cx="8412480" cy="274320"/>
          </a:xfrm>
          <a:prstGeom prst="rect">
            <a:avLst/>
          </a:prstGeom>
          <a:noFill/>
          <a:ln/>
        </p:spPr>
        <p:txBody>
          <a:bodyPr wrap="square" rtlCol="0" anchor="ctr"/>
          <a:lstStyle/>
          <a:p>
            <a:pPr indent="0" marL="0">
              <a:buNone/>
            </a:pPr>
            <a:r>
              <a:rPr lang="en-US" sz="900" i="1" dirty="0">
                <a:solidFill>
                  <a:srgbClr val="64748B"/>
                </a:solidFill>
              </a:rPr>
              <a:t>Priority: P1 — high ARPU segment with clear distribution leverage; competitors exist but Subspace has cost moat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74320"/>
            <a:ext cx="1371600" cy="256032"/>
          </a:xfrm>
          <a:prstGeom prst="roundRect">
            <a:avLst/>
          </a:prstGeom>
          <a:solidFill>
            <a:srgbClr val="7C3AED">
              <a:alpha val="15000"/>
            </a:srgbClr>
          </a:solidFill>
          <a:ln w="12700">
            <a:solidFill>
              <a:srgbClr val="7C3AED"/>
            </a:solidFill>
            <a:prstDash val="solid"/>
          </a:ln>
        </p:spPr>
      </p:sp>
      <p:sp>
        <p:nvSpPr>
          <p:cNvPr id="3" name="Text 1"/>
          <p:cNvSpPr/>
          <p:nvPr/>
        </p:nvSpPr>
        <p:spPr>
          <a:xfrm>
            <a:off x="457200" y="292608"/>
            <a:ext cx="1371600" cy="228600"/>
          </a:xfrm>
          <a:prstGeom prst="rect">
            <a:avLst/>
          </a:prstGeom>
          <a:noFill/>
          <a:ln/>
        </p:spPr>
        <p:txBody>
          <a:bodyPr wrap="square" lIns="0" tIns="0" rIns="0" bIns="0" rtlCol="0" anchor="ctr"/>
          <a:lstStyle/>
          <a:p>
            <a:pPr algn="ctr" indent="0" marL="0">
              <a:buNone/>
            </a:pPr>
            <a:r>
              <a:rPr lang="en-US" sz="800" b="1" spc="150" kern="0" dirty="0">
                <a:solidFill>
                  <a:srgbClr val="7C3AED"/>
                </a:solidFill>
              </a:rPr>
              <a:t>05 / Potential Collaborations</a:t>
            </a:r>
            <a:endParaRPr lang="en-US" sz="800" dirty="0"/>
          </a:p>
        </p:txBody>
      </p:sp>
      <p:sp>
        <p:nvSpPr>
          <p:cNvPr id="4" name="Text 2"/>
          <p:cNvSpPr/>
          <p:nvPr/>
        </p:nvSpPr>
        <p:spPr>
          <a:xfrm>
            <a:off x="457200" y="594360"/>
            <a:ext cx="8229600" cy="54864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ONDC + Local Subs = Unfair Advantage</a:t>
            </a:r>
            <a:endParaRPr lang="en-US" sz="2600" dirty="0"/>
          </a:p>
        </p:txBody>
      </p:sp>
      <p:sp>
        <p:nvSpPr>
          <p:cNvPr id="5" name="Shape 3"/>
          <p:cNvSpPr/>
          <p:nvPr/>
        </p:nvSpPr>
        <p:spPr>
          <a:xfrm>
            <a:off x="457200"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6" name="Shape 4"/>
          <p:cNvSpPr/>
          <p:nvPr/>
        </p:nvSpPr>
        <p:spPr>
          <a:xfrm>
            <a:off x="457200" y="1261872"/>
            <a:ext cx="50292" cy="3108960"/>
          </a:xfrm>
          <a:prstGeom prst="rect">
            <a:avLst/>
          </a:prstGeom>
          <a:solidFill>
            <a:srgbClr val="7C3AED"/>
          </a:solidFill>
          <a:ln w="12700">
            <a:solidFill>
              <a:srgbClr val="7C3AED"/>
            </a:solidFill>
            <a:prstDash val="solid"/>
          </a:ln>
        </p:spPr>
      </p:sp>
      <p:sp>
        <p:nvSpPr>
          <p:cNvPr id="7" name="Text 5"/>
          <p:cNvSpPr/>
          <p:nvPr/>
        </p:nvSpPr>
        <p:spPr>
          <a:xfrm>
            <a:off x="594360"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OBSERVED</a:t>
            </a:r>
            <a:endParaRPr lang="en-US" sz="1100" dirty="0"/>
          </a:p>
        </p:txBody>
      </p:sp>
      <p:sp>
        <p:nvSpPr>
          <p:cNvPr id="8" name="Text 6"/>
          <p:cNvSpPr/>
          <p:nvPr/>
        </p:nvSpPr>
        <p:spPr>
          <a:xfrm>
            <a:off x="594360"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Subspace is 'India's first subscription marketplace for local subscription providers' — gym memberships, local newspapers, milk delivery, tuition apps. But discovery of these local providers is buried under OTT/SaaS listings. ONDC (Open Network for Digital Commerce) now supports subscription-type services and has 7.5L+ seller registrations — none of which Subspace surfaces.</a:t>
            </a:r>
            <a:endParaRPr lang="en-US" sz="950" dirty="0"/>
          </a:p>
        </p:txBody>
      </p:sp>
      <p:sp>
        <p:nvSpPr>
          <p:cNvPr id="9" name="Shape 7"/>
          <p:cNvSpPr/>
          <p:nvPr/>
        </p:nvSpPr>
        <p:spPr>
          <a:xfrm>
            <a:off x="3273552"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0" name="Shape 8"/>
          <p:cNvSpPr/>
          <p:nvPr/>
        </p:nvSpPr>
        <p:spPr>
          <a:xfrm>
            <a:off x="3273552" y="1261872"/>
            <a:ext cx="50292" cy="3108960"/>
          </a:xfrm>
          <a:prstGeom prst="rect">
            <a:avLst/>
          </a:prstGeom>
          <a:solidFill>
            <a:srgbClr val="EF4444"/>
          </a:solidFill>
          <a:ln w="12700">
            <a:solidFill>
              <a:srgbClr val="EF4444"/>
            </a:solidFill>
            <a:prstDash val="solid"/>
          </a:ln>
        </p:spPr>
      </p:sp>
      <p:sp>
        <p:nvSpPr>
          <p:cNvPr id="11" name="Text 9"/>
          <p:cNvSpPr/>
          <p:nvPr/>
        </p:nvSpPr>
        <p:spPr>
          <a:xfrm>
            <a:off x="3410712"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PROBLEM</a:t>
            </a:r>
            <a:endParaRPr lang="en-US" sz="1100" dirty="0"/>
          </a:p>
        </p:txBody>
      </p:sp>
      <p:sp>
        <p:nvSpPr>
          <p:cNvPr id="12" name="Text 10"/>
          <p:cNvSpPr/>
          <p:nvPr/>
        </p:nvSpPr>
        <p:spPr>
          <a:xfrm>
            <a:off x="3410712"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Subspace's India-first moat is incomplete without genuine hyperlocal density. The OTT subscription layer is commoditising fast (Sharechat, Paytm, Meesho are adding similar features). The real defensibility — and the story that justifies a Series A — is being the subscription OS for India's tier-2/3 economy: gyms, newspapers, dabbawalas, co-working, etc. Without ONDC or B2B2C distribution, this remains an aspiration.</a:t>
            </a:r>
            <a:endParaRPr lang="en-US" sz="950" dirty="0"/>
          </a:p>
        </p:txBody>
      </p:sp>
      <p:sp>
        <p:nvSpPr>
          <p:cNvPr id="13" name="Shape 11"/>
          <p:cNvSpPr/>
          <p:nvPr/>
        </p:nvSpPr>
        <p:spPr>
          <a:xfrm>
            <a:off x="6080760" y="1261872"/>
            <a:ext cx="2606040" cy="31089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7000"/>
              </a:srgbClr>
            </a:outerShdw>
          </a:effectLst>
        </p:spPr>
      </p:sp>
      <p:sp>
        <p:nvSpPr>
          <p:cNvPr id="14" name="Shape 12"/>
          <p:cNvSpPr/>
          <p:nvPr/>
        </p:nvSpPr>
        <p:spPr>
          <a:xfrm>
            <a:off x="6080760" y="1261872"/>
            <a:ext cx="50292" cy="3108960"/>
          </a:xfrm>
          <a:prstGeom prst="rect">
            <a:avLst/>
          </a:prstGeom>
          <a:solidFill>
            <a:srgbClr val="10B981"/>
          </a:solidFill>
          <a:ln w="12700">
            <a:solidFill>
              <a:srgbClr val="10B981"/>
            </a:solidFill>
            <a:prstDash val="solid"/>
          </a:ln>
        </p:spPr>
      </p:sp>
      <p:sp>
        <p:nvSpPr>
          <p:cNvPr id="15" name="Text 13"/>
          <p:cNvSpPr/>
          <p:nvPr/>
        </p:nvSpPr>
        <p:spPr>
          <a:xfrm>
            <a:off x="6217920" y="1353312"/>
            <a:ext cx="2423160" cy="274320"/>
          </a:xfrm>
          <a:prstGeom prst="rect">
            <a:avLst/>
          </a:prstGeom>
          <a:noFill/>
          <a:ln/>
        </p:spPr>
        <p:txBody>
          <a:bodyPr wrap="square" lIns="0" tIns="0" rIns="0" bIns="0" rtlCol="0" anchor="ctr"/>
          <a:lstStyle/>
          <a:p>
            <a:pPr indent="0" marL="0">
              <a:buNone/>
            </a:pPr>
            <a:r>
              <a:rPr lang="en-US" sz="1100" b="1" dirty="0">
                <a:solidFill>
                  <a:srgbClr val="0F172A"/>
                </a:solidFill>
              </a:rPr>
              <a:t>SHIP INSTEAD</a:t>
            </a:r>
            <a:endParaRPr lang="en-US" sz="1100" dirty="0"/>
          </a:p>
        </p:txBody>
      </p:sp>
      <p:sp>
        <p:nvSpPr>
          <p:cNvPr id="16" name="Text 14"/>
          <p:cNvSpPr/>
          <p:nvPr/>
        </p:nvSpPr>
        <p:spPr>
          <a:xfrm>
            <a:off x="6217920" y="1645920"/>
            <a:ext cx="2423160" cy="2606040"/>
          </a:xfrm>
          <a:prstGeom prst="rect">
            <a:avLst/>
          </a:prstGeom>
          <a:noFill/>
          <a:ln/>
        </p:spPr>
        <p:txBody>
          <a:bodyPr wrap="square" lIns="0" tIns="0" rIns="0" bIns="0" rtlCol="0" anchor="ctr"/>
          <a:lstStyle/>
          <a:p>
            <a:pPr indent="0" marL="0">
              <a:buNone/>
            </a:pPr>
            <a:r>
              <a:rPr lang="en-US" sz="950" dirty="0">
                <a:solidFill>
                  <a:srgbClr val="64748B"/>
                </a:solidFill>
              </a:rPr>
              <a:t>1. Register as ONDC Buyer-side app + onboard local subscription sellers via ONDC protocol</a:t>
            </a:r>
            <a:endParaRPr lang="en-US" sz="950" dirty="0"/>
          </a:p>
          <a:p>
            <a:pPr indent="0" marL="0">
              <a:buNone/>
            </a:pPr>
            <a:r>
              <a:rPr lang="en-US" sz="950" dirty="0">
                <a:solidFill>
                  <a:srgbClr val="64748B"/>
                </a:solidFill>
              </a:rPr>
              <a:t>2. Partnership with Paytm/PhonePe ONDC nodes for distribution to tier-2 cities</a:t>
            </a:r>
            <a:endParaRPr lang="en-US" sz="950" dirty="0"/>
          </a:p>
          <a:p>
            <a:pPr indent="0" marL="0">
              <a:buNone/>
            </a:pPr>
            <a:r>
              <a:rPr lang="en-US" sz="950" dirty="0">
                <a:solidFill>
                  <a:srgbClr val="64748B"/>
                </a:solidFill>
              </a:rPr>
              <a:t>3. Co-integrate with Zoho Subscriptions (6M+ SMB users) for business subscription management</a:t>
            </a:r>
            <a:endParaRPr lang="en-US" sz="950" dirty="0"/>
          </a:p>
          <a:p>
            <a:pPr indent="0" marL="0">
              <a:buNone/>
            </a:pPr>
            <a:r>
              <a:rPr lang="en-US" sz="950" dirty="0">
                <a:solidFill>
                  <a:srgbClr val="64748B"/>
                </a:solidFill>
              </a:rPr>
              <a:t>4. 'Subspace Local' category: hyperlocal subscriptions in Bengaluru first — proves the model before scaling</a:t>
            </a:r>
            <a:endParaRPr lang="en-US" sz="950" dirty="0"/>
          </a:p>
          <a:p>
            <a:pPr indent="0" marL="0">
              <a:buNone/>
            </a:pPr>
            <a:r>
              <a:rPr lang="en-US" sz="950" dirty="0">
                <a:solidFill>
                  <a:srgbClr val="64748B"/>
                </a:solidFill>
              </a:rPr>
              <a:t>5. Moat outcome: data on what India's bottom 300M subscribes to — no other platform has this</a:t>
            </a:r>
            <a:endParaRPr lang="en-US" sz="950" dirty="0"/>
          </a:p>
        </p:txBody>
      </p:sp>
      <p:sp>
        <p:nvSpPr>
          <p:cNvPr id="17" name="Text 15"/>
          <p:cNvSpPr/>
          <p:nvPr/>
        </p:nvSpPr>
        <p:spPr>
          <a:xfrm>
            <a:off x="457200" y="4572000"/>
            <a:ext cx="8412480" cy="274320"/>
          </a:xfrm>
          <a:prstGeom prst="rect">
            <a:avLst/>
          </a:prstGeom>
          <a:noFill/>
          <a:ln/>
        </p:spPr>
        <p:txBody>
          <a:bodyPr wrap="square" rtlCol="0" anchor="ctr"/>
          <a:lstStyle/>
          <a:p>
            <a:pPr indent="0" marL="0">
              <a:buNone/>
            </a:pPr>
            <a:r>
              <a:rPr lang="en-US" sz="900" i="1" dirty="0">
                <a:solidFill>
                  <a:srgbClr val="64748B"/>
                </a:solidFill>
              </a:rPr>
              <a:t>Priority: P2 — longer horizon, but defines the 3-yr vision and defensibility narrative for fundraising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SWOT Analysis</a:t>
            </a:r>
            <a:endParaRPr lang="en-US" sz="2600" dirty="0"/>
          </a:p>
        </p:txBody>
      </p:sp>
      <p:sp>
        <p:nvSpPr>
          <p:cNvPr id="3" name="Shape 1"/>
          <p:cNvSpPr/>
          <p:nvPr/>
        </p:nvSpPr>
        <p:spPr>
          <a:xfrm>
            <a:off x="365760" y="822960"/>
            <a:ext cx="4114800" cy="1920240"/>
          </a:xfrm>
          <a:prstGeom prst="rect">
            <a:avLst/>
          </a:prstGeom>
          <a:solidFill>
            <a:srgbClr val="FFFFFF"/>
          </a:solidFill>
          <a:ln w="19050">
            <a:solidFill>
              <a:srgbClr val="10B981"/>
            </a:solidFill>
            <a:prstDash val="solid"/>
          </a:ln>
        </p:spPr>
      </p:sp>
      <p:sp>
        <p:nvSpPr>
          <p:cNvPr id="4" name="Shape 2"/>
          <p:cNvSpPr/>
          <p:nvPr/>
        </p:nvSpPr>
        <p:spPr>
          <a:xfrm>
            <a:off x="365760" y="822960"/>
            <a:ext cx="4114800" cy="292608"/>
          </a:xfrm>
          <a:prstGeom prst="rect">
            <a:avLst/>
          </a:prstGeom>
          <a:solidFill>
            <a:srgbClr val="10B981"/>
          </a:solidFill>
          <a:ln w="12700">
            <a:solidFill>
              <a:srgbClr val="10B981"/>
            </a:solidFill>
            <a:prstDash val="solid"/>
          </a:ln>
        </p:spPr>
      </p:sp>
      <p:sp>
        <p:nvSpPr>
          <p:cNvPr id="5" name="Text 3"/>
          <p:cNvSpPr/>
          <p:nvPr/>
        </p:nvSpPr>
        <p:spPr>
          <a:xfrm>
            <a:off x="457200" y="859536"/>
            <a:ext cx="3931920" cy="228600"/>
          </a:xfrm>
          <a:prstGeom prst="rect">
            <a:avLst/>
          </a:prstGeom>
          <a:noFill/>
          <a:ln/>
        </p:spPr>
        <p:txBody>
          <a:bodyPr wrap="square" lIns="0" tIns="0" rIns="0" bIns="0" rtlCol="0" anchor="ctr"/>
          <a:lstStyle/>
          <a:p>
            <a:pPr indent="0" marL="0">
              <a:buNone/>
            </a:pPr>
            <a:r>
              <a:rPr lang="en-US" sz="950" b="1" spc="150" kern="0" dirty="0">
                <a:solidFill>
                  <a:srgbClr val="FFFFFF"/>
                </a:solidFill>
              </a:rPr>
              <a:t>STRENGTHS</a:t>
            </a:r>
            <a:endParaRPr lang="en-US" sz="950" dirty="0"/>
          </a:p>
        </p:txBody>
      </p:sp>
      <p:sp>
        <p:nvSpPr>
          <p:cNvPr id="6" name="Text 4"/>
          <p:cNvSpPr/>
          <p:nvPr/>
        </p:nvSpPr>
        <p:spPr>
          <a:xfrm>
            <a:off x="502920" y="1170432"/>
            <a:ext cx="3886200" cy="274320"/>
          </a:xfrm>
          <a:prstGeom prst="rect">
            <a:avLst/>
          </a:prstGeom>
          <a:noFill/>
          <a:ln/>
        </p:spPr>
        <p:txBody>
          <a:bodyPr wrap="square" lIns="0" tIns="0" rIns="0" bIns="0" rtlCol="0" anchor="ctr"/>
          <a:lstStyle/>
          <a:p>
            <a:pPr indent="0" marL="0">
              <a:buNone/>
            </a:pPr>
            <a:r>
              <a:rPr lang="en-US" sz="850" dirty="0">
                <a:solidFill>
                  <a:srgbClr val="0F172A"/>
                </a:solidFill>
              </a:rPr>
              <a:t>▸  Bootstrapped &amp; profitable — rare in consumer fintech</a:t>
            </a:r>
            <a:endParaRPr lang="en-US" sz="850" dirty="0"/>
          </a:p>
        </p:txBody>
      </p:sp>
      <p:sp>
        <p:nvSpPr>
          <p:cNvPr id="7" name="Text 5"/>
          <p:cNvSpPr/>
          <p:nvPr/>
        </p:nvSpPr>
        <p:spPr>
          <a:xfrm>
            <a:off x="502920" y="1472184"/>
            <a:ext cx="3886200" cy="274320"/>
          </a:xfrm>
          <a:prstGeom prst="rect">
            <a:avLst/>
          </a:prstGeom>
          <a:noFill/>
          <a:ln/>
        </p:spPr>
        <p:txBody>
          <a:bodyPr wrap="square" lIns="0" tIns="0" rIns="0" bIns="0" rtlCol="0" anchor="ctr"/>
          <a:lstStyle/>
          <a:p>
            <a:pPr indent="0" marL="0">
              <a:buNone/>
            </a:pPr>
            <a:r>
              <a:rPr lang="en-US" sz="850" dirty="0">
                <a:solidFill>
                  <a:srgbClr val="0F172A"/>
                </a:solidFill>
              </a:rPr>
              <a:t>▸  India's first subscription marketplace for local providers</a:t>
            </a:r>
            <a:endParaRPr lang="en-US" sz="850" dirty="0"/>
          </a:p>
        </p:txBody>
      </p:sp>
      <p:sp>
        <p:nvSpPr>
          <p:cNvPr id="8" name="Text 6"/>
          <p:cNvSpPr/>
          <p:nvPr/>
        </p:nvSpPr>
        <p:spPr>
          <a:xfrm>
            <a:off x="502920" y="1773936"/>
            <a:ext cx="3886200" cy="274320"/>
          </a:xfrm>
          <a:prstGeom prst="rect">
            <a:avLst/>
          </a:prstGeom>
          <a:noFill/>
          <a:ln/>
        </p:spPr>
        <p:txBody>
          <a:bodyPr wrap="square" lIns="0" tIns="0" rIns="0" bIns="0" rtlCol="0" anchor="ctr"/>
          <a:lstStyle/>
          <a:p>
            <a:pPr indent="0" marL="0">
              <a:buNone/>
            </a:pPr>
            <a:r>
              <a:rPr lang="en-US" sz="850" dirty="0">
                <a:solidFill>
                  <a:srgbClr val="0F172A"/>
                </a:solidFill>
              </a:rPr>
              <a:t>▸  Negotiate API: automated price negotiation — hard to replicate</a:t>
            </a:r>
            <a:endParaRPr lang="en-US" sz="850" dirty="0"/>
          </a:p>
        </p:txBody>
      </p:sp>
      <p:sp>
        <p:nvSpPr>
          <p:cNvPr id="9" name="Text 7"/>
          <p:cNvSpPr/>
          <p:nvPr/>
        </p:nvSpPr>
        <p:spPr>
          <a:xfrm>
            <a:off x="502920" y="2075688"/>
            <a:ext cx="3886200" cy="274320"/>
          </a:xfrm>
          <a:prstGeom prst="rect">
            <a:avLst/>
          </a:prstGeom>
          <a:noFill/>
          <a:ln/>
        </p:spPr>
        <p:txBody>
          <a:bodyPr wrap="square" lIns="0" tIns="0" rIns="0" bIns="0" rtlCol="0" anchor="ctr"/>
          <a:lstStyle/>
          <a:p>
            <a:pPr indent="0" marL="0">
              <a:buNone/>
            </a:pPr>
            <a:r>
              <a:rPr lang="en-US" sz="850" dirty="0">
                <a:solidFill>
                  <a:srgbClr val="0F172A"/>
                </a:solidFill>
              </a:rPr>
              <a:t>▸  Group-sharing creates sticky social network effects</a:t>
            </a:r>
            <a:endParaRPr lang="en-US" sz="850" dirty="0"/>
          </a:p>
        </p:txBody>
      </p:sp>
      <p:sp>
        <p:nvSpPr>
          <p:cNvPr id="10" name="Text 8"/>
          <p:cNvSpPr/>
          <p:nvPr/>
        </p:nvSpPr>
        <p:spPr>
          <a:xfrm>
            <a:off x="502920" y="2377440"/>
            <a:ext cx="3886200" cy="274320"/>
          </a:xfrm>
          <a:prstGeom prst="rect">
            <a:avLst/>
          </a:prstGeom>
          <a:noFill/>
          <a:ln/>
        </p:spPr>
        <p:txBody>
          <a:bodyPr wrap="square" lIns="0" tIns="0" rIns="0" bIns="0" rtlCol="0" anchor="ctr"/>
          <a:lstStyle/>
          <a:p>
            <a:pPr indent="0" marL="0">
              <a:buNone/>
            </a:pPr>
            <a:r>
              <a:rPr lang="en-US" sz="850" dirty="0">
                <a:solidFill>
                  <a:srgbClr val="0F172A"/>
                </a:solidFill>
              </a:rPr>
              <a:t>▸  Dual-market: OTT savings for consumers + admin monetisation</a:t>
            </a:r>
            <a:endParaRPr lang="en-US" sz="850" dirty="0"/>
          </a:p>
        </p:txBody>
      </p:sp>
      <p:sp>
        <p:nvSpPr>
          <p:cNvPr id="11" name="Shape 9"/>
          <p:cNvSpPr/>
          <p:nvPr/>
        </p:nvSpPr>
        <p:spPr>
          <a:xfrm>
            <a:off x="4754880" y="822960"/>
            <a:ext cx="4114800" cy="1920240"/>
          </a:xfrm>
          <a:prstGeom prst="rect">
            <a:avLst/>
          </a:prstGeom>
          <a:solidFill>
            <a:srgbClr val="FFFFFF"/>
          </a:solidFill>
          <a:ln w="19050">
            <a:solidFill>
              <a:srgbClr val="EF4444"/>
            </a:solidFill>
            <a:prstDash val="solid"/>
          </a:ln>
        </p:spPr>
      </p:sp>
      <p:sp>
        <p:nvSpPr>
          <p:cNvPr id="12" name="Shape 10"/>
          <p:cNvSpPr/>
          <p:nvPr/>
        </p:nvSpPr>
        <p:spPr>
          <a:xfrm>
            <a:off x="4754880" y="822960"/>
            <a:ext cx="4114800" cy="292608"/>
          </a:xfrm>
          <a:prstGeom prst="rect">
            <a:avLst/>
          </a:prstGeom>
          <a:solidFill>
            <a:srgbClr val="EF4444"/>
          </a:solidFill>
          <a:ln w="12700">
            <a:solidFill>
              <a:srgbClr val="EF4444"/>
            </a:solidFill>
            <a:prstDash val="solid"/>
          </a:ln>
        </p:spPr>
      </p:sp>
      <p:sp>
        <p:nvSpPr>
          <p:cNvPr id="13" name="Text 11"/>
          <p:cNvSpPr/>
          <p:nvPr/>
        </p:nvSpPr>
        <p:spPr>
          <a:xfrm>
            <a:off x="4846320" y="859536"/>
            <a:ext cx="3931920" cy="228600"/>
          </a:xfrm>
          <a:prstGeom prst="rect">
            <a:avLst/>
          </a:prstGeom>
          <a:noFill/>
          <a:ln/>
        </p:spPr>
        <p:txBody>
          <a:bodyPr wrap="square" lIns="0" tIns="0" rIns="0" bIns="0" rtlCol="0" anchor="ctr"/>
          <a:lstStyle/>
          <a:p>
            <a:pPr indent="0" marL="0">
              <a:buNone/>
            </a:pPr>
            <a:r>
              <a:rPr lang="en-US" sz="950" b="1" spc="150" kern="0" dirty="0">
                <a:solidFill>
                  <a:srgbClr val="FFFFFF"/>
                </a:solidFill>
              </a:rPr>
              <a:t>WEAKNESSES</a:t>
            </a:r>
            <a:endParaRPr lang="en-US" sz="950" dirty="0"/>
          </a:p>
        </p:txBody>
      </p:sp>
      <p:sp>
        <p:nvSpPr>
          <p:cNvPr id="14" name="Text 12"/>
          <p:cNvSpPr/>
          <p:nvPr/>
        </p:nvSpPr>
        <p:spPr>
          <a:xfrm>
            <a:off x="4892040" y="1170432"/>
            <a:ext cx="3886200" cy="274320"/>
          </a:xfrm>
          <a:prstGeom prst="rect">
            <a:avLst/>
          </a:prstGeom>
          <a:noFill/>
          <a:ln/>
        </p:spPr>
        <p:txBody>
          <a:bodyPr wrap="square" lIns="0" tIns="0" rIns="0" bIns="0" rtlCol="0" anchor="ctr"/>
          <a:lstStyle/>
          <a:p>
            <a:pPr indent="0" marL="0">
              <a:buNone/>
            </a:pPr>
            <a:r>
              <a:rPr lang="en-US" sz="850" dirty="0">
                <a:solidFill>
                  <a:srgbClr val="0F172A"/>
                </a:solidFill>
              </a:rPr>
              <a:t>▸  Trust deficit in group-sharing due to unmoderated admin power</a:t>
            </a:r>
            <a:endParaRPr lang="en-US" sz="850" dirty="0"/>
          </a:p>
        </p:txBody>
      </p:sp>
      <p:sp>
        <p:nvSpPr>
          <p:cNvPr id="15" name="Text 13"/>
          <p:cNvSpPr/>
          <p:nvPr/>
        </p:nvSpPr>
        <p:spPr>
          <a:xfrm>
            <a:off x="4892040" y="1472184"/>
            <a:ext cx="3886200" cy="274320"/>
          </a:xfrm>
          <a:prstGeom prst="rect">
            <a:avLst/>
          </a:prstGeom>
          <a:noFill/>
          <a:ln/>
        </p:spPr>
        <p:txBody>
          <a:bodyPr wrap="square" lIns="0" tIns="0" rIns="0" bIns="0" rtlCol="0" anchor="ctr"/>
          <a:lstStyle/>
          <a:p>
            <a:pPr indent="0" marL="0">
              <a:buNone/>
            </a:pPr>
            <a:r>
              <a:rPr lang="en-US" sz="850" dirty="0">
                <a:solidFill>
                  <a:srgbClr val="0F172A"/>
                </a:solidFill>
              </a:rPr>
              <a:t>▸  Onboarding messaging dilutes brand clarity (delivery vs savings)</a:t>
            </a:r>
            <a:endParaRPr lang="en-US" sz="850" dirty="0"/>
          </a:p>
        </p:txBody>
      </p:sp>
      <p:sp>
        <p:nvSpPr>
          <p:cNvPr id="16" name="Text 14"/>
          <p:cNvSpPr/>
          <p:nvPr/>
        </p:nvSpPr>
        <p:spPr>
          <a:xfrm>
            <a:off x="4892040" y="1773936"/>
            <a:ext cx="3886200" cy="274320"/>
          </a:xfrm>
          <a:prstGeom prst="rect">
            <a:avLst/>
          </a:prstGeom>
          <a:noFill/>
          <a:ln/>
        </p:spPr>
        <p:txBody>
          <a:bodyPr wrap="square" lIns="0" tIns="0" rIns="0" bIns="0" rtlCol="0" anchor="ctr"/>
          <a:lstStyle/>
          <a:p>
            <a:pPr indent="0" marL="0">
              <a:buNone/>
            </a:pPr>
            <a:r>
              <a:rPr lang="en-US" sz="850" dirty="0">
                <a:solidFill>
                  <a:srgbClr val="0F172A"/>
                </a:solidFill>
              </a:rPr>
              <a:t>▸  Rentals advertised but largely unavailable — expectation debt</a:t>
            </a:r>
            <a:endParaRPr lang="en-US" sz="850" dirty="0"/>
          </a:p>
        </p:txBody>
      </p:sp>
      <p:sp>
        <p:nvSpPr>
          <p:cNvPr id="17" name="Text 15"/>
          <p:cNvSpPr/>
          <p:nvPr/>
        </p:nvSpPr>
        <p:spPr>
          <a:xfrm>
            <a:off x="4892040" y="2075688"/>
            <a:ext cx="3886200" cy="274320"/>
          </a:xfrm>
          <a:prstGeom prst="rect">
            <a:avLst/>
          </a:prstGeom>
          <a:noFill/>
          <a:ln/>
        </p:spPr>
        <p:txBody>
          <a:bodyPr wrap="square" lIns="0" tIns="0" rIns="0" bIns="0" rtlCol="0" anchor="ctr"/>
          <a:lstStyle/>
          <a:p>
            <a:pPr indent="0" marL="0">
              <a:buNone/>
            </a:pPr>
            <a:r>
              <a:rPr lang="en-US" sz="850" dirty="0">
                <a:solidFill>
                  <a:srgbClr val="0F172A"/>
                </a:solidFill>
              </a:rPr>
              <a:t>▸  Play Store at 3.6★ — support responsiveness is a pain point</a:t>
            </a:r>
            <a:endParaRPr lang="en-US" sz="850" dirty="0"/>
          </a:p>
        </p:txBody>
      </p:sp>
      <p:sp>
        <p:nvSpPr>
          <p:cNvPr id="18" name="Text 16"/>
          <p:cNvSpPr/>
          <p:nvPr/>
        </p:nvSpPr>
        <p:spPr>
          <a:xfrm>
            <a:off x="4892040" y="2377440"/>
            <a:ext cx="3886200" cy="274320"/>
          </a:xfrm>
          <a:prstGeom prst="rect">
            <a:avLst/>
          </a:prstGeom>
          <a:noFill/>
          <a:ln/>
        </p:spPr>
        <p:txBody>
          <a:bodyPr wrap="square" lIns="0" tIns="0" rIns="0" bIns="0" rtlCol="0" anchor="ctr"/>
          <a:lstStyle/>
          <a:p>
            <a:pPr indent="0" marL="0">
              <a:buNone/>
            </a:pPr>
            <a:r>
              <a:rPr lang="en-US" sz="850" dirty="0">
                <a:solidFill>
                  <a:srgbClr val="0F172A"/>
                </a:solidFill>
              </a:rPr>
              <a:t>▸  Limited iOS presence historically (iPhone app recent)</a:t>
            </a:r>
            <a:endParaRPr lang="en-US" sz="850" dirty="0"/>
          </a:p>
        </p:txBody>
      </p:sp>
      <p:sp>
        <p:nvSpPr>
          <p:cNvPr id="19" name="Shape 17"/>
          <p:cNvSpPr/>
          <p:nvPr/>
        </p:nvSpPr>
        <p:spPr>
          <a:xfrm>
            <a:off x="365760" y="2926080"/>
            <a:ext cx="4114800" cy="1920240"/>
          </a:xfrm>
          <a:prstGeom prst="rect">
            <a:avLst/>
          </a:prstGeom>
          <a:solidFill>
            <a:srgbClr val="FFFFFF"/>
          </a:solidFill>
          <a:ln w="19050">
            <a:solidFill>
              <a:srgbClr val="4F46E5"/>
            </a:solidFill>
            <a:prstDash val="solid"/>
          </a:ln>
        </p:spPr>
      </p:sp>
      <p:sp>
        <p:nvSpPr>
          <p:cNvPr id="20" name="Shape 18"/>
          <p:cNvSpPr/>
          <p:nvPr/>
        </p:nvSpPr>
        <p:spPr>
          <a:xfrm>
            <a:off x="365760" y="2926080"/>
            <a:ext cx="4114800" cy="292608"/>
          </a:xfrm>
          <a:prstGeom prst="rect">
            <a:avLst/>
          </a:prstGeom>
          <a:solidFill>
            <a:srgbClr val="4F46E5"/>
          </a:solidFill>
          <a:ln w="12700">
            <a:solidFill>
              <a:srgbClr val="4F46E5"/>
            </a:solidFill>
            <a:prstDash val="solid"/>
          </a:ln>
        </p:spPr>
      </p:sp>
      <p:sp>
        <p:nvSpPr>
          <p:cNvPr id="21" name="Text 19"/>
          <p:cNvSpPr/>
          <p:nvPr/>
        </p:nvSpPr>
        <p:spPr>
          <a:xfrm>
            <a:off x="457200" y="2962656"/>
            <a:ext cx="3931920" cy="228600"/>
          </a:xfrm>
          <a:prstGeom prst="rect">
            <a:avLst/>
          </a:prstGeom>
          <a:noFill/>
          <a:ln/>
        </p:spPr>
        <p:txBody>
          <a:bodyPr wrap="square" lIns="0" tIns="0" rIns="0" bIns="0" rtlCol="0" anchor="ctr"/>
          <a:lstStyle/>
          <a:p>
            <a:pPr indent="0" marL="0">
              <a:buNone/>
            </a:pPr>
            <a:r>
              <a:rPr lang="en-US" sz="950" b="1" spc="150" kern="0" dirty="0">
                <a:solidFill>
                  <a:srgbClr val="FFFFFF"/>
                </a:solidFill>
              </a:rPr>
              <a:t>OPPORTUNITIES</a:t>
            </a:r>
            <a:endParaRPr lang="en-US" sz="950" dirty="0"/>
          </a:p>
        </p:txBody>
      </p:sp>
      <p:sp>
        <p:nvSpPr>
          <p:cNvPr id="22" name="Text 20"/>
          <p:cNvSpPr/>
          <p:nvPr/>
        </p:nvSpPr>
        <p:spPr>
          <a:xfrm>
            <a:off x="502920" y="3273552"/>
            <a:ext cx="3886200" cy="274320"/>
          </a:xfrm>
          <a:prstGeom prst="rect">
            <a:avLst/>
          </a:prstGeom>
          <a:noFill/>
          <a:ln/>
        </p:spPr>
        <p:txBody>
          <a:bodyPr wrap="square" lIns="0" tIns="0" rIns="0" bIns="0" rtlCol="0" anchor="ctr"/>
          <a:lstStyle/>
          <a:p>
            <a:pPr indent="0" marL="0">
              <a:buNone/>
            </a:pPr>
            <a:r>
              <a:rPr lang="en-US" sz="850" dirty="0">
                <a:solidFill>
                  <a:srgbClr val="0F172A"/>
                </a:solidFill>
              </a:rPr>
              <a:t>▸  B2B gifting portal for corporate Diwali/annual gifting ($7.4B market)</a:t>
            </a:r>
            <a:endParaRPr lang="en-US" sz="850" dirty="0"/>
          </a:p>
        </p:txBody>
      </p:sp>
      <p:sp>
        <p:nvSpPr>
          <p:cNvPr id="23" name="Text 21"/>
          <p:cNvSpPr/>
          <p:nvPr/>
        </p:nvSpPr>
        <p:spPr>
          <a:xfrm>
            <a:off x="502920" y="3575304"/>
            <a:ext cx="3886200" cy="274320"/>
          </a:xfrm>
          <a:prstGeom prst="rect">
            <a:avLst/>
          </a:prstGeom>
          <a:noFill/>
          <a:ln/>
        </p:spPr>
        <p:txBody>
          <a:bodyPr wrap="square" lIns="0" tIns="0" rIns="0" bIns="0" rtlCol="0" anchor="ctr"/>
          <a:lstStyle/>
          <a:p>
            <a:pPr indent="0" marL="0">
              <a:buNone/>
            </a:pPr>
            <a:r>
              <a:rPr lang="en-US" sz="850" dirty="0">
                <a:solidFill>
                  <a:srgbClr val="0F172A"/>
                </a:solidFill>
              </a:rPr>
              <a:t>▸  ONDC integration to onboard 7.5L+ hyperlocal service providers</a:t>
            </a:r>
            <a:endParaRPr lang="en-US" sz="850" dirty="0"/>
          </a:p>
        </p:txBody>
      </p:sp>
      <p:sp>
        <p:nvSpPr>
          <p:cNvPr id="24" name="Text 22"/>
          <p:cNvSpPr/>
          <p:nvPr/>
        </p:nvSpPr>
        <p:spPr>
          <a:xfrm>
            <a:off x="502920" y="3877056"/>
            <a:ext cx="3886200" cy="274320"/>
          </a:xfrm>
          <a:prstGeom prst="rect">
            <a:avLst/>
          </a:prstGeom>
          <a:noFill/>
          <a:ln/>
        </p:spPr>
        <p:txBody>
          <a:bodyPr wrap="square" lIns="0" tIns="0" rIns="0" bIns="0" rtlCol="0" anchor="ctr"/>
          <a:lstStyle/>
          <a:p>
            <a:pPr indent="0" marL="0">
              <a:buNone/>
            </a:pPr>
            <a:r>
              <a:rPr lang="en-US" sz="850" dirty="0">
                <a:solidFill>
                  <a:srgbClr val="0F172A"/>
                </a:solidFill>
              </a:rPr>
              <a:t>▸  College campus distribution (student discounts, .edu verification)</a:t>
            </a:r>
            <a:endParaRPr lang="en-US" sz="850" dirty="0"/>
          </a:p>
        </p:txBody>
      </p:sp>
      <p:sp>
        <p:nvSpPr>
          <p:cNvPr id="25" name="Text 23"/>
          <p:cNvSpPr/>
          <p:nvPr/>
        </p:nvSpPr>
        <p:spPr>
          <a:xfrm>
            <a:off x="502920" y="4178808"/>
            <a:ext cx="3886200" cy="274320"/>
          </a:xfrm>
          <a:prstGeom prst="rect">
            <a:avLst/>
          </a:prstGeom>
          <a:noFill/>
          <a:ln/>
        </p:spPr>
        <p:txBody>
          <a:bodyPr wrap="square" lIns="0" tIns="0" rIns="0" bIns="0" rtlCol="0" anchor="ctr"/>
          <a:lstStyle/>
          <a:p>
            <a:pPr indent="0" marL="0">
              <a:buNone/>
            </a:pPr>
            <a:r>
              <a:rPr lang="en-US" sz="850" dirty="0">
                <a:solidFill>
                  <a:srgbClr val="0F172A"/>
                </a:solidFill>
              </a:rPr>
              <a:t>▸  SMB subscription management (Zoho, Tally ecosystem partnerships)</a:t>
            </a:r>
            <a:endParaRPr lang="en-US" sz="850" dirty="0"/>
          </a:p>
        </p:txBody>
      </p:sp>
      <p:sp>
        <p:nvSpPr>
          <p:cNvPr id="26" name="Text 24"/>
          <p:cNvSpPr/>
          <p:nvPr/>
        </p:nvSpPr>
        <p:spPr>
          <a:xfrm>
            <a:off x="502920" y="4480560"/>
            <a:ext cx="3886200" cy="274320"/>
          </a:xfrm>
          <a:prstGeom prst="rect">
            <a:avLst/>
          </a:prstGeom>
          <a:noFill/>
          <a:ln/>
        </p:spPr>
        <p:txBody>
          <a:bodyPr wrap="square" lIns="0" tIns="0" rIns="0" bIns="0" rtlCol="0" anchor="ctr"/>
          <a:lstStyle/>
          <a:p>
            <a:pPr indent="0" marL="0">
              <a:buNone/>
            </a:pPr>
            <a:r>
              <a:rPr lang="en-US" sz="850" dirty="0">
                <a:solidFill>
                  <a:srgbClr val="0F172A"/>
                </a:solidFill>
              </a:rPr>
              <a:t>▸  WhatsApp-native subscription reminders / sharing flows</a:t>
            </a:r>
            <a:endParaRPr lang="en-US" sz="850" dirty="0"/>
          </a:p>
        </p:txBody>
      </p:sp>
      <p:sp>
        <p:nvSpPr>
          <p:cNvPr id="27" name="Shape 25"/>
          <p:cNvSpPr/>
          <p:nvPr/>
        </p:nvSpPr>
        <p:spPr>
          <a:xfrm>
            <a:off x="4754880" y="2926080"/>
            <a:ext cx="4114800" cy="1920240"/>
          </a:xfrm>
          <a:prstGeom prst="rect">
            <a:avLst/>
          </a:prstGeom>
          <a:solidFill>
            <a:srgbClr val="FFFFFF"/>
          </a:solidFill>
          <a:ln w="19050">
            <a:solidFill>
              <a:srgbClr val="F59E0B"/>
            </a:solidFill>
            <a:prstDash val="solid"/>
          </a:ln>
        </p:spPr>
      </p:sp>
      <p:sp>
        <p:nvSpPr>
          <p:cNvPr id="28" name="Shape 26"/>
          <p:cNvSpPr/>
          <p:nvPr/>
        </p:nvSpPr>
        <p:spPr>
          <a:xfrm>
            <a:off x="4754880" y="2926080"/>
            <a:ext cx="4114800" cy="292608"/>
          </a:xfrm>
          <a:prstGeom prst="rect">
            <a:avLst/>
          </a:prstGeom>
          <a:solidFill>
            <a:srgbClr val="F59E0B"/>
          </a:solidFill>
          <a:ln w="12700">
            <a:solidFill>
              <a:srgbClr val="F59E0B"/>
            </a:solidFill>
            <a:prstDash val="solid"/>
          </a:ln>
        </p:spPr>
      </p:sp>
      <p:sp>
        <p:nvSpPr>
          <p:cNvPr id="29" name="Text 27"/>
          <p:cNvSpPr/>
          <p:nvPr/>
        </p:nvSpPr>
        <p:spPr>
          <a:xfrm>
            <a:off x="4846320" y="2962656"/>
            <a:ext cx="3931920" cy="228600"/>
          </a:xfrm>
          <a:prstGeom prst="rect">
            <a:avLst/>
          </a:prstGeom>
          <a:noFill/>
          <a:ln/>
        </p:spPr>
        <p:txBody>
          <a:bodyPr wrap="square" lIns="0" tIns="0" rIns="0" bIns="0" rtlCol="0" anchor="ctr"/>
          <a:lstStyle/>
          <a:p>
            <a:pPr indent="0" marL="0">
              <a:buNone/>
            </a:pPr>
            <a:r>
              <a:rPr lang="en-US" sz="950" b="1" spc="150" kern="0" dirty="0">
                <a:solidFill>
                  <a:srgbClr val="FFFFFF"/>
                </a:solidFill>
              </a:rPr>
              <a:t>THREATS</a:t>
            </a:r>
            <a:endParaRPr lang="en-US" sz="950" dirty="0"/>
          </a:p>
        </p:txBody>
      </p:sp>
      <p:sp>
        <p:nvSpPr>
          <p:cNvPr id="30" name="Text 28"/>
          <p:cNvSpPr/>
          <p:nvPr/>
        </p:nvSpPr>
        <p:spPr>
          <a:xfrm>
            <a:off x="4892040" y="3273552"/>
            <a:ext cx="3886200" cy="274320"/>
          </a:xfrm>
          <a:prstGeom prst="rect">
            <a:avLst/>
          </a:prstGeom>
          <a:noFill/>
          <a:ln/>
        </p:spPr>
        <p:txBody>
          <a:bodyPr wrap="square" lIns="0" tIns="0" rIns="0" bIns="0" rtlCol="0" anchor="ctr"/>
          <a:lstStyle/>
          <a:p>
            <a:pPr indent="0" marL="0">
              <a:buNone/>
            </a:pPr>
            <a:r>
              <a:rPr lang="en-US" sz="850" dirty="0">
                <a:solidFill>
                  <a:srgbClr val="0F172A"/>
                </a:solidFill>
              </a:rPr>
              <a:t>▸  Paytm/PhonePe/Google Pay entering subscription management</a:t>
            </a:r>
            <a:endParaRPr lang="en-US" sz="850" dirty="0"/>
          </a:p>
        </p:txBody>
      </p:sp>
      <p:sp>
        <p:nvSpPr>
          <p:cNvPr id="31" name="Text 29"/>
          <p:cNvSpPr/>
          <p:nvPr/>
        </p:nvSpPr>
        <p:spPr>
          <a:xfrm>
            <a:off x="4892040" y="3575304"/>
            <a:ext cx="3886200" cy="274320"/>
          </a:xfrm>
          <a:prstGeom prst="rect">
            <a:avLst/>
          </a:prstGeom>
          <a:noFill/>
          <a:ln/>
        </p:spPr>
        <p:txBody>
          <a:bodyPr wrap="square" lIns="0" tIns="0" rIns="0" bIns="0" rtlCol="0" anchor="ctr"/>
          <a:lstStyle/>
          <a:p>
            <a:pPr indent="0" marL="0">
              <a:buNone/>
            </a:pPr>
            <a:r>
              <a:rPr lang="en-US" sz="850" dirty="0">
                <a:solidFill>
                  <a:srgbClr val="0F172A"/>
                </a:solidFill>
              </a:rPr>
              <a:t>▸  OTT platforms tightening shared account policies (Netflix precedent)</a:t>
            </a:r>
            <a:endParaRPr lang="en-US" sz="850" dirty="0"/>
          </a:p>
        </p:txBody>
      </p:sp>
      <p:sp>
        <p:nvSpPr>
          <p:cNvPr id="32" name="Text 30"/>
          <p:cNvSpPr/>
          <p:nvPr/>
        </p:nvSpPr>
        <p:spPr>
          <a:xfrm>
            <a:off x="4892040" y="3877056"/>
            <a:ext cx="3886200" cy="274320"/>
          </a:xfrm>
          <a:prstGeom prst="rect">
            <a:avLst/>
          </a:prstGeom>
          <a:noFill/>
          <a:ln/>
        </p:spPr>
        <p:txBody>
          <a:bodyPr wrap="square" lIns="0" tIns="0" rIns="0" bIns="0" rtlCol="0" anchor="ctr"/>
          <a:lstStyle/>
          <a:p>
            <a:pPr indent="0" marL="0">
              <a:buNone/>
            </a:pPr>
            <a:r>
              <a:rPr lang="en-US" sz="850" dirty="0">
                <a:solidFill>
                  <a:srgbClr val="0F172A"/>
                </a:solidFill>
              </a:rPr>
              <a:t>▸  Woohoo/Qwikcilver dominating B2B gifting without Subspace entering</a:t>
            </a:r>
            <a:endParaRPr lang="en-US" sz="850" dirty="0"/>
          </a:p>
        </p:txBody>
      </p:sp>
      <p:sp>
        <p:nvSpPr>
          <p:cNvPr id="33" name="Text 31"/>
          <p:cNvSpPr/>
          <p:nvPr/>
        </p:nvSpPr>
        <p:spPr>
          <a:xfrm>
            <a:off x="4892040" y="4178808"/>
            <a:ext cx="3886200" cy="274320"/>
          </a:xfrm>
          <a:prstGeom prst="rect">
            <a:avLst/>
          </a:prstGeom>
          <a:noFill/>
          <a:ln/>
        </p:spPr>
        <p:txBody>
          <a:bodyPr wrap="square" lIns="0" tIns="0" rIns="0" bIns="0" rtlCol="0" anchor="ctr"/>
          <a:lstStyle/>
          <a:p>
            <a:pPr indent="0" marL="0">
              <a:buNone/>
            </a:pPr>
            <a:r>
              <a:rPr lang="en-US" sz="850" dirty="0">
                <a:solidFill>
                  <a:srgbClr val="0F172A"/>
                </a:solidFill>
              </a:rPr>
              <a:t>▸  Regulatory risk: RBI guidelines on auto-debit / recurring payments</a:t>
            </a:r>
            <a:endParaRPr lang="en-US" sz="850" dirty="0"/>
          </a:p>
        </p:txBody>
      </p:sp>
      <p:sp>
        <p:nvSpPr>
          <p:cNvPr id="34" name="Text 32"/>
          <p:cNvSpPr/>
          <p:nvPr/>
        </p:nvSpPr>
        <p:spPr>
          <a:xfrm>
            <a:off x="4892040" y="4480560"/>
            <a:ext cx="3886200" cy="274320"/>
          </a:xfrm>
          <a:prstGeom prst="rect">
            <a:avLst/>
          </a:prstGeom>
          <a:noFill/>
          <a:ln/>
        </p:spPr>
        <p:txBody>
          <a:bodyPr wrap="square" lIns="0" tIns="0" rIns="0" bIns="0" rtlCol="0" anchor="ctr"/>
          <a:lstStyle/>
          <a:p>
            <a:pPr indent="0" marL="0">
              <a:buNone/>
            </a:pPr>
            <a:r>
              <a:rPr lang="en-US" sz="850" dirty="0">
                <a:solidFill>
                  <a:srgbClr val="0F172A"/>
                </a:solidFill>
              </a:rPr>
              <a:t>▸  Quick-commerce incumbents (Blinkit) entering gadget-rental space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Prioritization Matrix</a:t>
            </a:r>
            <a:endParaRPr lang="en-US" sz="2600" dirty="0"/>
          </a:p>
        </p:txBody>
      </p:sp>
      <p:sp>
        <p:nvSpPr>
          <p:cNvPr id="3" name="Text 1"/>
          <p:cNvSpPr/>
          <p:nvPr/>
        </p:nvSpPr>
        <p:spPr>
          <a:xfrm>
            <a:off x="457200" y="713232"/>
            <a:ext cx="8229600" cy="274320"/>
          </a:xfrm>
          <a:prstGeom prst="rect">
            <a:avLst/>
          </a:prstGeom>
          <a:noFill/>
          <a:ln/>
        </p:spPr>
        <p:txBody>
          <a:bodyPr wrap="square" rtlCol="0" anchor="ctr"/>
          <a:lstStyle/>
          <a:p>
            <a:pPr indent="0" marL="0">
              <a:buNone/>
            </a:pPr>
            <a:r>
              <a:rPr lang="en-US" sz="1100" i="1" dirty="0">
                <a:solidFill>
                  <a:srgbClr val="64748B"/>
                </a:solidFill>
              </a:rPr>
              <a:t>Impact vs. Effort — 6-week sprint horizon</a:t>
            </a:r>
            <a:endParaRPr lang="en-US" sz="1100" dirty="0"/>
          </a:p>
        </p:txBody>
      </p:sp>
      <p:sp>
        <p:nvSpPr>
          <p:cNvPr id="4" name="Shape 2"/>
          <p:cNvSpPr/>
          <p:nvPr/>
        </p:nvSpPr>
        <p:spPr>
          <a:xfrm>
            <a:off x="365760" y="1078992"/>
            <a:ext cx="2743200" cy="320040"/>
          </a:xfrm>
          <a:prstGeom prst="rect">
            <a:avLst/>
          </a:prstGeom>
          <a:solidFill>
            <a:srgbClr val="0F172A"/>
          </a:solidFill>
          <a:ln w="12700">
            <a:solidFill>
              <a:srgbClr val="0F172A"/>
            </a:solidFill>
            <a:prstDash val="solid"/>
          </a:ln>
        </p:spPr>
      </p:sp>
      <p:sp>
        <p:nvSpPr>
          <p:cNvPr id="5" name="Text 3"/>
          <p:cNvSpPr/>
          <p:nvPr/>
        </p:nvSpPr>
        <p:spPr>
          <a:xfrm>
            <a:off x="411480" y="1078992"/>
            <a:ext cx="2697480" cy="320040"/>
          </a:xfrm>
          <a:prstGeom prst="rect">
            <a:avLst/>
          </a:prstGeom>
          <a:noFill/>
          <a:ln/>
        </p:spPr>
        <p:txBody>
          <a:bodyPr wrap="square" lIns="0" tIns="0" rIns="0" bIns="0" rtlCol="0" anchor="ctr"/>
          <a:lstStyle/>
          <a:p>
            <a:pPr indent="0" marL="0">
              <a:buNone/>
            </a:pPr>
            <a:r>
              <a:rPr lang="en-US" sz="950" b="1" dirty="0">
                <a:solidFill>
                  <a:srgbClr val="FFFFFF"/>
                </a:solidFill>
              </a:rPr>
              <a:t>Insight</a:t>
            </a:r>
            <a:endParaRPr lang="en-US" sz="950" dirty="0"/>
          </a:p>
        </p:txBody>
      </p:sp>
      <p:sp>
        <p:nvSpPr>
          <p:cNvPr id="6" name="Shape 4"/>
          <p:cNvSpPr/>
          <p:nvPr/>
        </p:nvSpPr>
        <p:spPr>
          <a:xfrm>
            <a:off x="3108960" y="1078992"/>
            <a:ext cx="1371600" cy="320040"/>
          </a:xfrm>
          <a:prstGeom prst="rect">
            <a:avLst/>
          </a:prstGeom>
          <a:solidFill>
            <a:srgbClr val="0F172A"/>
          </a:solidFill>
          <a:ln w="12700">
            <a:solidFill>
              <a:srgbClr val="0F172A"/>
            </a:solidFill>
            <a:prstDash val="solid"/>
          </a:ln>
        </p:spPr>
      </p:sp>
      <p:sp>
        <p:nvSpPr>
          <p:cNvPr id="7" name="Text 5"/>
          <p:cNvSpPr/>
          <p:nvPr/>
        </p:nvSpPr>
        <p:spPr>
          <a:xfrm>
            <a:off x="3154680" y="1078992"/>
            <a:ext cx="1325880" cy="320040"/>
          </a:xfrm>
          <a:prstGeom prst="rect">
            <a:avLst/>
          </a:prstGeom>
          <a:noFill/>
          <a:ln/>
        </p:spPr>
        <p:txBody>
          <a:bodyPr wrap="square" lIns="0" tIns="0" rIns="0" bIns="0" rtlCol="0" anchor="ctr"/>
          <a:lstStyle/>
          <a:p>
            <a:pPr indent="0" marL="0">
              <a:buNone/>
            </a:pPr>
            <a:r>
              <a:rPr lang="en-US" sz="950" b="1" dirty="0">
                <a:solidFill>
                  <a:srgbClr val="FFFFFF"/>
                </a:solidFill>
              </a:rPr>
              <a:t>Pillar</a:t>
            </a:r>
            <a:endParaRPr lang="en-US" sz="950" dirty="0"/>
          </a:p>
        </p:txBody>
      </p:sp>
      <p:sp>
        <p:nvSpPr>
          <p:cNvPr id="8" name="Shape 6"/>
          <p:cNvSpPr/>
          <p:nvPr/>
        </p:nvSpPr>
        <p:spPr>
          <a:xfrm>
            <a:off x="4480560" y="1078992"/>
            <a:ext cx="731520" cy="320040"/>
          </a:xfrm>
          <a:prstGeom prst="rect">
            <a:avLst/>
          </a:prstGeom>
          <a:solidFill>
            <a:srgbClr val="0F172A"/>
          </a:solidFill>
          <a:ln w="12700">
            <a:solidFill>
              <a:srgbClr val="0F172A"/>
            </a:solidFill>
            <a:prstDash val="solid"/>
          </a:ln>
        </p:spPr>
      </p:sp>
      <p:sp>
        <p:nvSpPr>
          <p:cNvPr id="9" name="Text 7"/>
          <p:cNvSpPr/>
          <p:nvPr/>
        </p:nvSpPr>
        <p:spPr>
          <a:xfrm>
            <a:off x="4526280" y="1078992"/>
            <a:ext cx="685800" cy="320040"/>
          </a:xfrm>
          <a:prstGeom prst="rect">
            <a:avLst/>
          </a:prstGeom>
          <a:noFill/>
          <a:ln/>
        </p:spPr>
        <p:txBody>
          <a:bodyPr wrap="square" lIns="0" tIns="0" rIns="0" bIns="0" rtlCol="0" anchor="ctr"/>
          <a:lstStyle/>
          <a:p>
            <a:pPr indent="0" marL="0">
              <a:buNone/>
            </a:pPr>
            <a:r>
              <a:rPr lang="en-US" sz="950" b="1" dirty="0">
                <a:solidFill>
                  <a:srgbClr val="FFFFFF"/>
                </a:solidFill>
              </a:rPr>
              <a:t>Impact</a:t>
            </a:r>
            <a:endParaRPr lang="en-US" sz="950" dirty="0"/>
          </a:p>
        </p:txBody>
      </p:sp>
      <p:sp>
        <p:nvSpPr>
          <p:cNvPr id="10" name="Shape 8"/>
          <p:cNvSpPr/>
          <p:nvPr/>
        </p:nvSpPr>
        <p:spPr>
          <a:xfrm>
            <a:off x="5212080" y="1078992"/>
            <a:ext cx="731520" cy="320040"/>
          </a:xfrm>
          <a:prstGeom prst="rect">
            <a:avLst/>
          </a:prstGeom>
          <a:solidFill>
            <a:srgbClr val="0F172A"/>
          </a:solidFill>
          <a:ln w="12700">
            <a:solidFill>
              <a:srgbClr val="0F172A"/>
            </a:solidFill>
            <a:prstDash val="solid"/>
          </a:ln>
        </p:spPr>
      </p:sp>
      <p:sp>
        <p:nvSpPr>
          <p:cNvPr id="11" name="Text 9"/>
          <p:cNvSpPr/>
          <p:nvPr/>
        </p:nvSpPr>
        <p:spPr>
          <a:xfrm>
            <a:off x="5257800" y="1078992"/>
            <a:ext cx="685800" cy="320040"/>
          </a:xfrm>
          <a:prstGeom prst="rect">
            <a:avLst/>
          </a:prstGeom>
          <a:noFill/>
          <a:ln/>
        </p:spPr>
        <p:txBody>
          <a:bodyPr wrap="square" lIns="0" tIns="0" rIns="0" bIns="0" rtlCol="0" anchor="ctr"/>
          <a:lstStyle/>
          <a:p>
            <a:pPr indent="0" marL="0">
              <a:buNone/>
            </a:pPr>
            <a:r>
              <a:rPr lang="en-US" sz="950" b="1" dirty="0">
                <a:solidFill>
                  <a:srgbClr val="FFFFFF"/>
                </a:solidFill>
              </a:rPr>
              <a:t>Effort</a:t>
            </a:r>
            <a:endParaRPr lang="en-US" sz="950" dirty="0"/>
          </a:p>
        </p:txBody>
      </p:sp>
      <p:sp>
        <p:nvSpPr>
          <p:cNvPr id="12" name="Shape 10"/>
          <p:cNvSpPr/>
          <p:nvPr/>
        </p:nvSpPr>
        <p:spPr>
          <a:xfrm>
            <a:off x="5943600" y="1078992"/>
            <a:ext cx="822960" cy="320040"/>
          </a:xfrm>
          <a:prstGeom prst="rect">
            <a:avLst/>
          </a:prstGeom>
          <a:solidFill>
            <a:srgbClr val="0F172A"/>
          </a:solidFill>
          <a:ln w="12700">
            <a:solidFill>
              <a:srgbClr val="0F172A"/>
            </a:solidFill>
            <a:prstDash val="solid"/>
          </a:ln>
        </p:spPr>
      </p:sp>
      <p:sp>
        <p:nvSpPr>
          <p:cNvPr id="13" name="Text 11"/>
          <p:cNvSpPr/>
          <p:nvPr/>
        </p:nvSpPr>
        <p:spPr>
          <a:xfrm>
            <a:off x="5989320" y="1078992"/>
            <a:ext cx="777240" cy="320040"/>
          </a:xfrm>
          <a:prstGeom prst="rect">
            <a:avLst/>
          </a:prstGeom>
          <a:noFill/>
          <a:ln/>
        </p:spPr>
        <p:txBody>
          <a:bodyPr wrap="square" lIns="0" tIns="0" rIns="0" bIns="0" rtlCol="0" anchor="ctr"/>
          <a:lstStyle/>
          <a:p>
            <a:pPr indent="0" marL="0">
              <a:buNone/>
            </a:pPr>
            <a:r>
              <a:rPr lang="en-US" sz="950" b="1" dirty="0">
                <a:solidFill>
                  <a:srgbClr val="FFFFFF"/>
                </a:solidFill>
              </a:rPr>
              <a:t>Priority</a:t>
            </a:r>
            <a:endParaRPr lang="en-US" sz="950" dirty="0"/>
          </a:p>
        </p:txBody>
      </p:sp>
      <p:sp>
        <p:nvSpPr>
          <p:cNvPr id="14" name="Shape 12"/>
          <p:cNvSpPr/>
          <p:nvPr/>
        </p:nvSpPr>
        <p:spPr>
          <a:xfrm>
            <a:off x="6766560" y="1078992"/>
            <a:ext cx="822960" cy="320040"/>
          </a:xfrm>
          <a:prstGeom prst="rect">
            <a:avLst/>
          </a:prstGeom>
          <a:solidFill>
            <a:srgbClr val="0F172A"/>
          </a:solidFill>
          <a:ln w="12700">
            <a:solidFill>
              <a:srgbClr val="0F172A"/>
            </a:solidFill>
            <a:prstDash val="solid"/>
          </a:ln>
        </p:spPr>
      </p:sp>
      <p:sp>
        <p:nvSpPr>
          <p:cNvPr id="15" name="Text 13"/>
          <p:cNvSpPr/>
          <p:nvPr/>
        </p:nvSpPr>
        <p:spPr>
          <a:xfrm>
            <a:off x="6812280" y="1078992"/>
            <a:ext cx="777240" cy="320040"/>
          </a:xfrm>
          <a:prstGeom prst="rect">
            <a:avLst/>
          </a:prstGeom>
          <a:noFill/>
          <a:ln/>
        </p:spPr>
        <p:txBody>
          <a:bodyPr wrap="square" lIns="0" tIns="0" rIns="0" bIns="0" rtlCol="0" anchor="ctr"/>
          <a:lstStyle/>
          <a:p>
            <a:pPr indent="0" marL="0">
              <a:buNone/>
            </a:pPr>
            <a:r>
              <a:rPr lang="en-US" sz="950" b="1" dirty="0">
                <a:solidFill>
                  <a:srgbClr val="FFFFFF"/>
                </a:solidFill>
              </a:rPr>
              <a:t>Sprint</a:t>
            </a:r>
            <a:endParaRPr lang="en-US" sz="950" dirty="0"/>
          </a:p>
        </p:txBody>
      </p:sp>
      <p:sp>
        <p:nvSpPr>
          <p:cNvPr id="16" name="Shape 14"/>
          <p:cNvSpPr/>
          <p:nvPr/>
        </p:nvSpPr>
        <p:spPr>
          <a:xfrm>
            <a:off x="365760" y="1417320"/>
            <a:ext cx="8412480" cy="530352"/>
          </a:xfrm>
          <a:prstGeom prst="rect">
            <a:avLst/>
          </a:prstGeom>
          <a:solidFill>
            <a:srgbClr val="F1F5F9"/>
          </a:solidFill>
          <a:ln w="6350">
            <a:solidFill>
              <a:srgbClr val="E2E8F0"/>
            </a:solidFill>
            <a:prstDash val="solid"/>
          </a:ln>
        </p:spPr>
      </p:sp>
      <p:sp>
        <p:nvSpPr>
          <p:cNvPr id="17" name="Shape 15"/>
          <p:cNvSpPr/>
          <p:nvPr/>
        </p:nvSpPr>
        <p:spPr>
          <a:xfrm>
            <a:off x="365760" y="1417320"/>
            <a:ext cx="54864" cy="530352"/>
          </a:xfrm>
          <a:prstGeom prst="rect">
            <a:avLst/>
          </a:prstGeom>
          <a:solidFill>
            <a:srgbClr val="EF4444"/>
          </a:solidFill>
          <a:ln w="12700">
            <a:solidFill>
              <a:srgbClr val="EF4444"/>
            </a:solidFill>
            <a:prstDash val="solid"/>
          </a:ln>
        </p:spPr>
      </p:sp>
      <p:sp>
        <p:nvSpPr>
          <p:cNvPr id="18" name="Text 16"/>
          <p:cNvSpPr/>
          <p:nvPr/>
        </p:nvSpPr>
        <p:spPr>
          <a:xfrm>
            <a:off x="457200" y="1527048"/>
            <a:ext cx="2651760" cy="329184"/>
          </a:xfrm>
          <a:prstGeom prst="rect">
            <a:avLst/>
          </a:prstGeom>
          <a:noFill/>
          <a:ln/>
        </p:spPr>
        <p:txBody>
          <a:bodyPr wrap="square" lIns="0" tIns="0" rIns="0" bIns="0" rtlCol="0" anchor="ctr"/>
          <a:lstStyle/>
          <a:p>
            <a:pPr indent="0" marL="0">
              <a:buNone/>
            </a:pPr>
            <a:r>
              <a:rPr lang="en-US" sz="950" dirty="0">
                <a:solidFill>
                  <a:srgbClr val="0F172A"/>
                </a:solidFill>
              </a:rPr>
              <a:t>Trust &amp; Admin controls in group sharing</a:t>
            </a:r>
            <a:endParaRPr lang="en-US" sz="950" dirty="0"/>
          </a:p>
        </p:txBody>
      </p:sp>
      <p:sp>
        <p:nvSpPr>
          <p:cNvPr id="19" name="Text 17"/>
          <p:cNvSpPr/>
          <p:nvPr/>
        </p:nvSpPr>
        <p:spPr>
          <a:xfrm>
            <a:off x="3200400" y="1527048"/>
            <a:ext cx="1280160" cy="329184"/>
          </a:xfrm>
          <a:prstGeom prst="rect">
            <a:avLst/>
          </a:prstGeom>
          <a:noFill/>
          <a:ln/>
        </p:spPr>
        <p:txBody>
          <a:bodyPr wrap="square" lIns="0" tIns="0" rIns="0" bIns="0" rtlCol="0" anchor="ctr"/>
          <a:lstStyle/>
          <a:p>
            <a:pPr indent="0" marL="0">
              <a:buNone/>
            </a:pPr>
            <a:r>
              <a:rPr lang="en-US" sz="900" dirty="0">
                <a:solidFill>
                  <a:srgbClr val="0F172A"/>
                </a:solidFill>
              </a:rPr>
              <a:t>UX</a:t>
            </a:r>
            <a:endParaRPr lang="en-US" sz="900" dirty="0"/>
          </a:p>
        </p:txBody>
      </p:sp>
      <p:sp>
        <p:nvSpPr>
          <p:cNvPr id="20" name="Text 18"/>
          <p:cNvSpPr/>
          <p:nvPr/>
        </p:nvSpPr>
        <p:spPr>
          <a:xfrm>
            <a:off x="4572000" y="1527048"/>
            <a:ext cx="640080" cy="329184"/>
          </a:xfrm>
          <a:prstGeom prst="rect">
            <a:avLst/>
          </a:prstGeom>
          <a:noFill/>
          <a:ln/>
        </p:spPr>
        <p:txBody>
          <a:bodyPr wrap="square" lIns="0" tIns="0" rIns="0" bIns="0" rtlCol="0" anchor="ctr"/>
          <a:lstStyle/>
          <a:p>
            <a:pPr indent="0" marL="0">
              <a:buNone/>
            </a:pPr>
            <a:r>
              <a:rPr lang="en-US" sz="900" b="1" dirty="0">
                <a:solidFill>
                  <a:srgbClr val="EF4444"/>
                </a:solidFill>
              </a:rPr>
              <a:t>Very High</a:t>
            </a:r>
            <a:endParaRPr lang="en-US" sz="900" dirty="0"/>
          </a:p>
        </p:txBody>
      </p:sp>
      <p:sp>
        <p:nvSpPr>
          <p:cNvPr id="21" name="Text 19"/>
          <p:cNvSpPr/>
          <p:nvPr/>
        </p:nvSpPr>
        <p:spPr>
          <a:xfrm>
            <a:off x="5303520" y="1527048"/>
            <a:ext cx="640080" cy="329184"/>
          </a:xfrm>
          <a:prstGeom prst="rect">
            <a:avLst/>
          </a:prstGeom>
          <a:noFill/>
          <a:ln/>
        </p:spPr>
        <p:txBody>
          <a:bodyPr wrap="square" lIns="0" tIns="0" rIns="0" bIns="0" rtlCol="0" anchor="ctr"/>
          <a:lstStyle/>
          <a:p>
            <a:pPr indent="0" marL="0">
              <a:buNone/>
            </a:pPr>
            <a:r>
              <a:rPr lang="en-US" sz="900" dirty="0">
                <a:solidFill>
                  <a:srgbClr val="0F172A"/>
                </a:solidFill>
              </a:rPr>
              <a:t>Medium</a:t>
            </a:r>
            <a:endParaRPr lang="en-US" sz="900" dirty="0"/>
          </a:p>
        </p:txBody>
      </p:sp>
      <p:sp>
        <p:nvSpPr>
          <p:cNvPr id="22" name="Text 20"/>
          <p:cNvSpPr/>
          <p:nvPr/>
        </p:nvSpPr>
        <p:spPr>
          <a:xfrm>
            <a:off x="6035040" y="1527048"/>
            <a:ext cx="731520" cy="329184"/>
          </a:xfrm>
          <a:prstGeom prst="rect">
            <a:avLst/>
          </a:prstGeom>
          <a:noFill/>
          <a:ln/>
        </p:spPr>
        <p:txBody>
          <a:bodyPr wrap="square" lIns="0" tIns="0" rIns="0" bIns="0" rtlCol="0" anchor="ctr"/>
          <a:lstStyle/>
          <a:p>
            <a:pPr indent="0" marL="0">
              <a:buNone/>
            </a:pPr>
            <a:r>
              <a:rPr lang="en-US" sz="900" b="1" dirty="0">
                <a:solidFill>
                  <a:srgbClr val="EF4444"/>
                </a:solidFill>
              </a:rPr>
              <a:t>P0</a:t>
            </a:r>
            <a:endParaRPr lang="en-US" sz="900" dirty="0"/>
          </a:p>
        </p:txBody>
      </p:sp>
      <p:sp>
        <p:nvSpPr>
          <p:cNvPr id="23" name="Text 21"/>
          <p:cNvSpPr/>
          <p:nvPr/>
        </p:nvSpPr>
        <p:spPr>
          <a:xfrm>
            <a:off x="6858000" y="1527048"/>
            <a:ext cx="731520" cy="329184"/>
          </a:xfrm>
          <a:prstGeom prst="rect">
            <a:avLst/>
          </a:prstGeom>
          <a:noFill/>
          <a:ln/>
        </p:spPr>
        <p:txBody>
          <a:bodyPr wrap="square" lIns="0" tIns="0" rIns="0" bIns="0" rtlCol="0" anchor="ctr"/>
          <a:lstStyle/>
          <a:p>
            <a:pPr indent="0" marL="0">
              <a:buNone/>
            </a:pPr>
            <a:r>
              <a:rPr lang="en-US" sz="900" dirty="0">
                <a:solidFill>
                  <a:srgbClr val="0F172A"/>
                </a:solidFill>
              </a:rPr>
              <a:t>Week 1-2</a:t>
            </a:r>
            <a:endParaRPr lang="en-US" sz="900" dirty="0"/>
          </a:p>
        </p:txBody>
      </p:sp>
      <p:sp>
        <p:nvSpPr>
          <p:cNvPr id="24" name="Shape 22"/>
          <p:cNvSpPr/>
          <p:nvPr/>
        </p:nvSpPr>
        <p:spPr>
          <a:xfrm>
            <a:off x="365760" y="1984248"/>
            <a:ext cx="8412480" cy="530352"/>
          </a:xfrm>
          <a:prstGeom prst="rect">
            <a:avLst/>
          </a:prstGeom>
          <a:solidFill>
            <a:srgbClr val="FFFFFF"/>
          </a:solidFill>
          <a:ln w="6350">
            <a:solidFill>
              <a:srgbClr val="E2E8F0"/>
            </a:solidFill>
            <a:prstDash val="solid"/>
          </a:ln>
        </p:spPr>
      </p:sp>
      <p:sp>
        <p:nvSpPr>
          <p:cNvPr id="25" name="Shape 23"/>
          <p:cNvSpPr/>
          <p:nvPr/>
        </p:nvSpPr>
        <p:spPr>
          <a:xfrm>
            <a:off x="365760" y="1984248"/>
            <a:ext cx="54864" cy="530352"/>
          </a:xfrm>
          <a:prstGeom prst="rect">
            <a:avLst/>
          </a:prstGeom>
          <a:solidFill>
            <a:srgbClr val="F59E0B"/>
          </a:solidFill>
          <a:ln w="12700">
            <a:solidFill>
              <a:srgbClr val="F59E0B"/>
            </a:solidFill>
            <a:prstDash val="solid"/>
          </a:ln>
        </p:spPr>
      </p:sp>
      <p:sp>
        <p:nvSpPr>
          <p:cNvPr id="26" name="Text 24"/>
          <p:cNvSpPr/>
          <p:nvPr/>
        </p:nvSpPr>
        <p:spPr>
          <a:xfrm>
            <a:off x="457200" y="2093976"/>
            <a:ext cx="2651760" cy="329184"/>
          </a:xfrm>
          <a:prstGeom prst="rect">
            <a:avLst/>
          </a:prstGeom>
          <a:noFill/>
          <a:ln/>
        </p:spPr>
        <p:txBody>
          <a:bodyPr wrap="square" lIns="0" tIns="0" rIns="0" bIns="0" rtlCol="0" anchor="ctr"/>
          <a:lstStyle/>
          <a:p>
            <a:pPr indent="0" marL="0">
              <a:buNone/>
            </a:pPr>
            <a:r>
              <a:rPr lang="en-US" sz="950" dirty="0">
                <a:solidFill>
                  <a:srgbClr val="0F172A"/>
                </a:solidFill>
              </a:rPr>
              <a:t>ICP onboarding revamp + location UX</a:t>
            </a:r>
            <a:endParaRPr lang="en-US" sz="950" dirty="0"/>
          </a:p>
        </p:txBody>
      </p:sp>
      <p:sp>
        <p:nvSpPr>
          <p:cNvPr id="27" name="Text 25"/>
          <p:cNvSpPr/>
          <p:nvPr/>
        </p:nvSpPr>
        <p:spPr>
          <a:xfrm>
            <a:off x="3200400" y="2093976"/>
            <a:ext cx="1280160" cy="329184"/>
          </a:xfrm>
          <a:prstGeom prst="rect">
            <a:avLst/>
          </a:prstGeom>
          <a:noFill/>
          <a:ln/>
        </p:spPr>
        <p:txBody>
          <a:bodyPr wrap="square" lIns="0" tIns="0" rIns="0" bIns="0" rtlCol="0" anchor="ctr"/>
          <a:lstStyle/>
          <a:p>
            <a:pPr indent="0" marL="0">
              <a:buNone/>
            </a:pPr>
            <a:r>
              <a:rPr lang="en-US" sz="900" dirty="0">
                <a:solidFill>
                  <a:srgbClr val="0F172A"/>
                </a:solidFill>
              </a:rPr>
              <a:t>GTM &amp; ICPs</a:t>
            </a:r>
            <a:endParaRPr lang="en-US" sz="900" dirty="0"/>
          </a:p>
        </p:txBody>
      </p:sp>
      <p:sp>
        <p:nvSpPr>
          <p:cNvPr id="28" name="Text 26"/>
          <p:cNvSpPr/>
          <p:nvPr/>
        </p:nvSpPr>
        <p:spPr>
          <a:xfrm>
            <a:off x="4572000" y="2093976"/>
            <a:ext cx="640080" cy="329184"/>
          </a:xfrm>
          <a:prstGeom prst="rect">
            <a:avLst/>
          </a:prstGeom>
          <a:noFill/>
          <a:ln/>
        </p:spPr>
        <p:txBody>
          <a:bodyPr wrap="square" lIns="0" tIns="0" rIns="0" bIns="0" rtlCol="0" anchor="ctr"/>
          <a:lstStyle/>
          <a:p>
            <a:pPr indent="0" marL="0">
              <a:buNone/>
            </a:pPr>
            <a:r>
              <a:rPr lang="en-US" sz="900" b="1" dirty="0">
                <a:solidFill>
                  <a:srgbClr val="F59E0B"/>
                </a:solidFill>
              </a:rPr>
              <a:t>High</a:t>
            </a:r>
            <a:endParaRPr lang="en-US" sz="900" dirty="0"/>
          </a:p>
        </p:txBody>
      </p:sp>
      <p:sp>
        <p:nvSpPr>
          <p:cNvPr id="29" name="Text 27"/>
          <p:cNvSpPr/>
          <p:nvPr/>
        </p:nvSpPr>
        <p:spPr>
          <a:xfrm>
            <a:off x="5303520" y="2093976"/>
            <a:ext cx="640080" cy="329184"/>
          </a:xfrm>
          <a:prstGeom prst="rect">
            <a:avLst/>
          </a:prstGeom>
          <a:noFill/>
          <a:ln/>
        </p:spPr>
        <p:txBody>
          <a:bodyPr wrap="square" lIns="0" tIns="0" rIns="0" bIns="0" rtlCol="0" anchor="ctr"/>
          <a:lstStyle/>
          <a:p>
            <a:pPr indent="0" marL="0">
              <a:buNone/>
            </a:pPr>
            <a:r>
              <a:rPr lang="en-US" sz="900" dirty="0">
                <a:solidFill>
                  <a:srgbClr val="0F172A"/>
                </a:solidFill>
              </a:rPr>
              <a:t>Medium</a:t>
            </a:r>
            <a:endParaRPr lang="en-US" sz="900" dirty="0"/>
          </a:p>
        </p:txBody>
      </p:sp>
      <p:sp>
        <p:nvSpPr>
          <p:cNvPr id="30" name="Text 28"/>
          <p:cNvSpPr/>
          <p:nvPr/>
        </p:nvSpPr>
        <p:spPr>
          <a:xfrm>
            <a:off x="6035040" y="2093976"/>
            <a:ext cx="731520" cy="329184"/>
          </a:xfrm>
          <a:prstGeom prst="rect">
            <a:avLst/>
          </a:prstGeom>
          <a:noFill/>
          <a:ln/>
        </p:spPr>
        <p:txBody>
          <a:bodyPr wrap="square" lIns="0" tIns="0" rIns="0" bIns="0" rtlCol="0" anchor="ctr"/>
          <a:lstStyle/>
          <a:p>
            <a:pPr indent="0" marL="0">
              <a:buNone/>
            </a:pPr>
            <a:r>
              <a:rPr lang="en-US" sz="900" b="1" dirty="0">
                <a:solidFill>
                  <a:srgbClr val="F59E0B"/>
                </a:solidFill>
              </a:rPr>
              <a:t>P1</a:t>
            </a:r>
            <a:endParaRPr lang="en-US" sz="900" dirty="0"/>
          </a:p>
        </p:txBody>
      </p:sp>
      <p:sp>
        <p:nvSpPr>
          <p:cNvPr id="31" name="Text 29"/>
          <p:cNvSpPr/>
          <p:nvPr/>
        </p:nvSpPr>
        <p:spPr>
          <a:xfrm>
            <a:off x="6858000" y="2093976"/>
            <a:ext cx="731520" cy="329184"/>
          </a:xfrm>
          <a:prstGeom prst="rect">
            <a:avLst/>
          </a:prstGeom>
          <a:noFill/>
          <a:ln/>
        </p:spPr>
        <p:txBody>
          <a:bodyPr wrap="square" lIns="0" tIns="0" rIns="0" bIns="0" rtlCol="0" anchor="ctr"/>
          <a:lstStyle/>
          <a:p>
            <a:pPr indent="0" marL="0">
              <a:buNone/>
            </a:pPr>
            <a:r>
              <a:rPr lang="en-US" sz="900" dirty="0">
                <a:solidFill>
                  <a:srgbClr val="0F172A"/>
                </a:solidFill>
              </a:rPr>
              <a:t>Week 2-3</a:t>
            </a:r>
            <a:endParaRPr lang="en-US" sz="900" dirty="0"/>
          </a:p>
        </p:txBody>
      </p:sp>
      <p:sp>
        <p:nvSpPr>
          <p:cNvPr id="32" name="Shape 30"/>
          <p:cNvSpPr/>
          <p:nvPr/>
        </p:nvSpPr>
        <p:spPr>
          <a:xfrm>
            <a:off x="365760" y="2551176"/>
            <a:ext cx="8412480" cy="530352"/>
          </a:xfrm>
          <a:prstGeom prst="rect">
            <a:avLst/>
          </a:prstGeom>
          <a:solidFill>
            <a:srgbClr val="F1F5F9"/>
          </a:solidFill>
          <a:ln w="6350">
            <a:solidFill>
              <a:srgbClr val="E2E8F0"/>
            </a:solidFill>
            <a:prstDash val="solid"/>
          </a:ln>
        </p:spPr>
      </p:sp>
      <p:sp>
        <p:nvSpPr>
          <p:cNvPr id="33" name="Shape 31"/>
          <p:cNvSpPr/>
          <p:nvPr/>
        </p:nvSpPr>
        <p:spPr>
          <a:xfrm>
            <a:off x="365760" y="2551176"/>
            <a:ext cx="54864" cy="530352"/>
          </a:xfrm>
          <a:prstGeom prst="rect">
            <a:avLst/>
          </a:prstGeom>
          <a:solidFill>
            <a:srgbClr val="10B981"/>
          </a:solidFill>
          <a:ln w="12700">
            <a:solidFill>
              <a:srgbClr val="10B981"/>
            </a:solidFill>
            <a:prstDash val="solid"/>
          </a:ln>
        </p:spPr>
      </p:sp>
      <p:sp>
        <p:nvSpPr>
          <p:cNvPr id="34" name="Text 32"/>
          <p:cNvSpPr/>
          <p:nvPr/>
        </p:nvSpPr>
        <p:spPr>
          <a:xfrm>
            <a:off x="457200" y="2660904"/>
            <a:ext cx="2651760" cy="329184"/>
          </a:xfrm>
          <a:prstGeom prst="rect">
            <a:avLst/>
          </a:prstGeom>
          <a:noFill/>
          <a:ln/>
        </p:spPr>
        <p:txBody>
          <a:bodyPr wrap="square" lIns="0" tIns="0" rIns="0" bIns="0" rtlCol="0" anchor="ctr"/>
          <a:lstStyle/>
          <a:p>
            <a:pPr indent="0" marL="0">
              <a:buNone/>
            </a:pPr>
            <a:r>
              <a:rPr lang="en-US" sz="950" dirty="0">
                <a:solidFill>
                  <a:srgbClr val="0F172A"/>
                </a:solidFill>
              </a:rPr>
              <a:t>B2B gifting portal (bulk + GST invoice)</a:t>
            </a:r>
            <a:endParaRPr lang="en-US" sz="950" dirty="0"/>
          </a:p>
        </p:txBody>
      </p:sp>
      <p:sp>
        <p:nvSpPr>
          <p:cNvPr id="35" name="Text 33"/>
          <p:cNvSpPr/>
          <p:nvPr/>
        </p:nvSpPr>
        <p:spPr>
          <a:xfrm>
            <a:off x="3200400" y="2660904"/>
            <a:ext cx="1280160" cy="329184"/>
          </a:xfrm>
          <a:prstGeom prst="rect">
            <a:avLst/>
          </a:prstGeom>
          <a:noFill/>
          <a:ln/>
        </p:spPr>
        <p:txBody>
          <a:bodyPr wrap="square" lIns="0" tIns="0" rIns="0" bIns="0" rtlCol="0" anchor="ctr"/>
          <a:lstStyle/>
          <a:p>
            <a:pPr indent="0" marL="0">
              <a:buNone/>
            </a:pPr>
            <a:r>
              <a:rPr lang="en-US" sz="900" dirty="0">
                <a:solidFill>
                  <a:srgbClr val="0F172A"/>
                </a:solidFill>
              </a:rPr>
              <a:t>Competitor</a:t>
            </a:r>
            <a:endParaRPr lang="en-US" sz="900" dirty="0"/>
          </a:p>
        </p:txBody>
      </p:sp>
      <p:sp>
        <p:nvSpPr>
          <p:cNvPr id="36" name="Text 34"/>
          <p:cNvSpPr/>
          <p:nvPr/>
        </p:nvSpPr>
        <p:spPr>
          <a:xfrm>
            <a:off x="4572000" y="2660904"/>
            <a:ext cx="640080" cy="329184"/>
          </a:xfrm>
          <a:prstGeom prst="rect">
            <a:avLst/>
          </a:prstGeom>
          <a:noFill/>
          <a:ln/>
        </p:spPr>
        <p:txBody>
          <a:bodyPr wrap="square" lIns="0" tIns="0" rIns="0" bIns="0" rtlCol="0" anchor="ctr"/>
          <a:lstStyle/>
          <a:p>
            <a:pPr indent="0" marL="0">
              <a:buNone/>
            </a:pPr>
            <a:r>
              <a:rPr lang="en-US" sz="900" b="1" dirty="0">
                <a:solidFill>
                  <a:srgbClr val="F59E0B"/>
                </a:solidFill>
              </a:rPr>
              <a:t>High</a:t>
            </a:r>
            <a:endParaRPr lang="en-US" sz="900" dirty="0"/>
          </a:p>
        </p:txBody>
      </p:sp>
      <p:sp>
        <p:nvSpPr>
          <p:cNvPr id="37" name="Text 35"/>
          <p:cNvSpPr/>
          <p:nvPr/>
        </p:nvSpPr>
        <p:spPr>
          <a:xfrm>
            <a:off x="5303520" y="2660904"/>
            <a:ext cx="640080" cy="329184"/>
          </a:xfrm>
          <a:prstGeom prst="rect">
            <a:avLst/>
          </a:prstGeom>
          <a:noFill/>
          <a:ln/>
        </p:spPr>
        <p:txBody>
          <a:bodyPr wrap="square" lIns="0" tIns="0" rIns="0" bIns="0" rtlCol="0" anchor="ctr"/>
          <a:lstStyle/>
          <a:p>
            <a:pPr indent="0" marL="0">
              <a:buNone/>
            </a:pPr>
            <a:r>
              <a:rPr lang="en-US" sz="900" dirty="0">
                <a:solidFill>
                  <a:srgbClr val="0F172A"/>
                </a:solidFill>
              </a:rPr>
              <a:t>High</a:t>
            </a:r>
            <a:endParaRPr lang="en-US" sz="900" dirty="0"/>
          </a:p>
        </p:txBody>
      </p:sp>
      <p:sp>
        <p:nvSpPr>
          <p:cNvPr id="38" name="Text 36"/>
          <p:cNvSpPr/>
          <p:nvPr/>
        </p:nvSpPr>
        <p:spPr>
          <a:xfrm>
            <a:off x="6035040" y="2660904"/>
            <a:ext cx="731520" cy="329184"/>
          </a:xfrm>
          <a:prstGeom prst="rect">
            <a:avLst/>
          </a:prstGeom>
          <a:noFill/>
          <a:ln/>
        </p:spPr>
        <p:txBody>
          <a:bodyPr wrap="square" lIns="0" tIns="0" rIns="0" bIns="0" rtlCol="0" anchor="ctr"/>
          <a:lstStyle/>
          <a:p>
            <a:pPr indent="0" marL="0">
              <a:buNone/>
            </a:pPr>
            <a:r>
              <a:rPr lang="en-US" sz="900" b="1" dirty="0">
                <a:solidFill>
                  <a:srgbClr val="F59E0B"/>
                </a:solidFill>
              </a:rPr>
              <a:t>P1</a:t>
            </a:r>
            <a:endParaRPr lang="en-US" sz="900" dirty="0"/>
          </a:p>
        </p:txBody>
      </p:sp>
      <p:sp>
        <p:nvSpPr>
          <p:cNvPr id="39" name="Text 37"/>
          <p:cNvSpPr/>
          <p:nvPr/>
        </p:nvSpPr>
        <p:spPr>
          <a:xfrm>
            <a:off x="6858000" y="2660904"/>
            <a:ext cx="731520" cy="329184"/>
          </a:xfrm>
          <a:prstGeom prst="rect">
            <a:avLst/>
          </a:prstGeom>
          <a:noFill/>
          <a:ln/>
        </p:spPr>
        <p:txBody>
          <a:bodyPr wrap="square" lIns="0" tIns="0" rIns="0" bIns="0" rtlCol="0" anchor="ctr"/>
          <a:lstStyle/>
          <a:p>
            <a:pPr indent="0" marL="0">
              <a:buNone/>
            </a:pPr>
            <a:r>
              <a:rPr lang="en-US" sz="900" dirty="0">
                <a:solidFill>
                  <a:srgbClr val="0F172A"/>
                </a:solidFill>
              </a:rPr>
              <a:t>Week 3-5</a:t>
            </a:r>
            <a:endParaRPr lang="en-US" sz="900" dirty="0"/>
          </a:p>
        </p:txBody>
      </p:sp>
      <p:sp>
        <p:nvSpPr>
          <p:cNvPr id="40" name="Shape 38"/>
          <p:cNvSpPr/>
          <p:nvPr/>
        </p:nvSpPr>
        <p:spPr>
          <a:xfrm>
            <a:off x="365760" y="3118104"/>
            <a:ext cx="8412480" cy="530352"/>
          </a:xfrm>
          <a:prstGeom prst="rect">
            <a:avLst/>
          </a:prstGeom>
          <a:solidFill>
            <a:srgbClr val="FFFFFF"/>
          </a:solidFill>
          <a:ln w="6350">
            <a:solidFill>
              <a:srgbClr val="E2E8F0"/>
            </a:solidFill>
            <a:prstDash val="solid"/>
          </a:ln>
        </p:spPr>
      </p:sp>
      <p:sp>
        <p:nvSpPr>
          <p:cNvPr id="41" name="Shape 39"/>
          <p:cNvSpPr/>
          <p:nvPr/>
        </p:nvSpPr>
        <p:spPr>
          <a:xfrm>
            <a:off x="365760" y="3118104"/>
            <a:ext cx="54864" cy="530352"/>
          </a:xfrm>
          <a:prstGeom prst="rect">
            <a:avLst/>
          </a:prstGeom>
          <a:solidFill>
            <a:srgbClr val="4F46E5"/>
          </a:solidFill>
          <a:ln w="12700">
            <a:solidFill>
              <a:srgbClr val="4F46E5"/>
            </a:solidFill>
            <a:prstDash val="solid"/>
          </a:ln>
        </p:spPr>
      </p:sp>
      <p:sp>
        <p:nvSpPr>
          <p:cNvPr id="42" name="Text 40"/>
          <p:cNvSpPr/>
          <p:nvPr/>
        </p:nvSpPr>
        <p:spPr>
          <a:xfrm>
            <a:off x="457200" y="3227832"/>
            <a:ext cx="2651760" cy="329184"/>
          </a:xfrm>
          <a:prstGeom prst="rect">
            <a:avLst/>
          </a:prstGeom>
          <a:noFill/>
          <a:ln/>
        </p:spPr>
        <p:txBody>
          <a:bodyPr wrap="square" lIns="0" tIns="0" rIns="0" bIns="0" rtlCol="0" anchor="ctr"/>
          <a:lstStyle/>
          <a:p>
            <a:pPr indent="0" marL="0">
              <a:buNone/>
            </a:pPr>
            <a:r>
              <a:rPr lang="en-US" sz="950" dirty="0">
                <a:solidFill>
                  <a:srgbClr val="0F172A"/>
                </a:solidFill>
              </a:rPr>
              <a:t>Rentals inventory transparency / re-scope</a:t>
            </a:r>
            <a:endParaRPr lang="en-US" sz="950" dirty="0"/>
          </a:p>
        </p:txBody>
      </p:sp>
      <p:sp>
        <p:nvSpPr>
          <p:cNvPr id="43" name="Text 41"/>
          <p:cNvSpPr/>
          <p:nvPr/>
        </p:nvSpPr>
        <p:spPr>
          <a:xfrm>
            <a:off x="3200400" y="3227832"/>
            <a:ext cx="1280160" cy="329184"/>
          </a:xfrm>
          <a:prstGeom prst="rect">
            <a:avLst/>
          </a:prstGeom>
          <a:noFill/>
          <a:ln/>
        </p:spPr>
        <p:txBody>
          <a:bodyPr wrap="square" lIns="0" tIns="0" rIns="0" bIns="0" rtlCol="0" anchor="ctr"/>
          <a:lstStyle/>
          <a:p>
            <a:pPr indent="0" marL="0">
              <a:buNone/>
            </a:pPr>
            <a:r>
              <a:rPr lang="en-US" sz="900" dirty="0">
                <a:solidFill>
                  <a:srgbClr val="0F172A"/>
                </a:solidFill>
              </a:rPr>
              <a:t>Features</a:t>
            </a:r>
            <a:endParaRPr lang="en-US" sz="900" dirty="0"/>
          </a:p>
        </p:txBody>
      </p:sp>
      <p:sp>
        <p:nvSpPr>
          <p:cNvPr id="44" name="Text 42"/>
          <p:cNvSpPr/>
          <p:nvPr/>
        </p:nvSpPr>
        <p:spPr>
          <a:xfrm>
            <a:off x="4572000" y="3227832"/>
            <a:ext cx="640080" cy="329184"/>
          </a:xfrm>
          <a:prstGeom prst="rect">
            <a:avLst/>
          </a:prstGeom>
          <a:noFill/>
          <a:ln/>
        </p:spPr>
        <p:txBody>
          <a:bodyPr wrap="square" lIns="0" tIns="0" rIns="0" bIns="0" rtlCol="0" anchor="ctr"/>
          <a:lstStyle/>
          <a:p>
            <a:pPr indent="0" marL="0">
              <a:buNone/>
            </a:pPr>
            <a:r>
              <a:rPr lang="en-US" sz="900" b="1" dirty="0">
                <a:solidFill>
                  <a:srgbClr val="4F46E5"/>
                </a:solidFill>
              </a:rPr>
              <a:t>Medium</a:t>
            </a:r>
            <a:endParaRPr lang="en-US" sz="900" dirty="0"/>
          </a:p>
        </p:txBody>
      </p:sp>
      <p:sp>
        <p:nvSpPr>
          <p:cNvPr id="45" name="Text 43"/>
          <p:cNvSpPr/>
          <p:nvPr/>
        </p:nvSpPr>
        <p:spPr>
          <a:xfrm>
            <a:off x="5303520" y="3227832"/>
            <a:ext cx="640080" cy="329184"/>
          </a:xfrm>
          <a:prstGeom prst="rect">
            <a:avLst/>
          </a:prstGeom>
          <a:noFill/>
          <a:ln/>
        </p:spPr>
        <p:txBody>
          <a:bodyPr wrap="square" lIns="0" tIns="0" rIns="0" bIns="0" rtlCol="0" anchor="ctr"/>
          <a:lstStyle/>
          <a:p>
            <a:pPr indent="0" marL="0">
              <a:buNone/>
            </a:pPr>
            <a:r>
              <a:rPr lang="en-US" sz="900" dirty="0">
                <a:solidFill>
                  <a:srgbClr val="0F172A"/>
                </a:solidFill>
              </a:rPr>
              <a:t>Low</a:t>
            </a:r>
            <a:endParaRPr lang="en-US" sz="900" dirty="0"/>
          </a:p>
        </p:txBody>
      </p:sp>
      <p:sp>
        <p:nvSpPr>
          <p:cNvPr id="46" name="Text 44"/>
          <p:cNvSpPr/>
          <p:nvPr/>
        </p:nvSpPr>
        <p:spPr>
          <a:xfrm>
            <a:off x="6035040" y="3227832"/>
            <a:ext cx="731520" cy="329184"/>
          </a:xfrm>
          <a:prstGeom prst="rect">
            <a:avLst/>
          </a:prstGeom>
          <a:noFill/>
          <a:ln/>
        </p:spPr>
        <p:txBody>
          <a:bodyPr wrap="square" lIns="0" tIns="0" rIns="0" bIns="0" rtlCol="0" anchor="ctr"/>
          <a:lstStyle/>
          <a:p>
            <a:pPr indent="0" marL="0">
              <a:buNone/>
            </a:pPr>
            <a:r>
              <a:rPr lang="en-US" sz="900" b="1" dirty="0">
                <a:solidFill>
                  <a:srgbClr val="F59E0B"/>
                </a:solidFill>
              </a:rPr>
              <a:t>P1</a:t>
            </a:r>
            <a:endParaRPr lang="en-US" sz="900" dirty="0"/>
          </a:p>
        </p:txBody>
      </p:sp>
      <p:sp>
        <p:nvSpPr>
          <p:cNvPr id="47" name="Text 45"/>
          <p:cNvSpPr/>
          <p:nvPr/>
        </p:nvSpPr>
        <p:spPr>
          <a:xfrm>
            <a:off x="6858000" y="3227832"/>
            <a:ext cx="731520" cy="329184"/>
          </a:xfrm>
          <a:prstGeom prst="rect">
            <a:avLst/>
          </a:prstGeom>
          <a:noFill/>
          <a:ln/>
        </p:spPr>
        <p:txBody>
          <a:bodyPr wrap="square" lIns="0" tIns="0" rIns="0" bIns="0" rtlCol="0" anchor="ctr"/>
          <a:lstStyle/>
          <a:p>
            <a:pPr indent="0" marL="0">
              <a:buNone/>
            </a:pPr>
            <a:r>
              <a:rPr lang="en-US" sz="900" dirty="0">
                <a:solidFill>
                  <a:srgbClr val="0F172A"/>
                </a:solidFill>
              </a:rPr>
              <a:t>Week 1</a:t>
            </a:r>
            <a:endParaRPr lang="en-US" sz="900" dirty="0"/>
          </a:p>
        </p:txBody>
      </p:sp>
      <p:sp>
        <p:nvSpPr>
          <p:cNvPr id="48" name="Shape 46"/>
          <p:cNvSpPr/>
          <p:nvPr/>
        </p:nvSpPr>
        <p:spPr>
          <a:xfrm>
            <a:off x="365760" y="3685032"/>
            <a:ext cx="8412480" cy="530352"/>
          </a:xfrm>
          <a:prstGeom prst="rect">
            <a:avLst/>
          </a:prstGeom>
          <a:solidFill>
            <a:srgbClr val="F1F5F9"/>
          </a:solidFill>
          <a:ln w="6350">
            <a:solidFill>
              <a:srgbClr val="E2E8F0"/>
            </a:solidFill>
            <a:prstDash val="solid"/>
          </a:ln>
        </p:spPr>
      </p:sp>
      <p:sp>
        <p:nvSpPr>
          <p:cNvPr id="49" name="Shape 47"/>
          <p:cNvSpPr/>
          <p:nvPr/>
        </p:nvSpPr>
        <p:spPr>
          <a:xfrm>
            <a:off x="365760" y="3685032"/>
            <a:ext cx="54864" cy="530352"/>
          </a:xfrm>
          <a:prstGeom prst="rect">
            <a:avLst/>
          </a:prstGeom>
          <a:solidFill>
            <a:srgbClr val="7C3AED"/>
          </a:solidFill>
          <a:ln w="12700">
            <a:solidFill>
              <a:srgbClr val="7C3AED"/>
            </a:solidFill>
            <a:prstDash val="solid"/>
          </a:ln>
        </p:spPr>
      </p:sp>
      <p:sp>
        <p:nvSpPr>
          <p:cNvPr id="50" name="Text 48"/>
          <p:cNvSpPr/>
          <p:nvPr/>
        </p:nvSpPr>
        <p:spPr>
          <a:xfrm>
            <a:off x="457200" y="3794760"/>
            <a:ext cx="2651760" cy="329184"/>
          </a:xfrm>
          <a:prstGeom prst="rect">
            <a:avLst/>
          </a:prstGeom>
          <a:noFill/>
          <a:ln/>
        </p:spPr>
        <p:txBody>
          <a:bodyPr wrap="square" lIns="0" tIns="0" rIns="0" bIns="0" rtlCol="0" anchor="ctr"/>
          <a:lstStyle/>
          <a:p>
            <a:pPr indent="0" marL="0">
              <a:buNone/>
            </a:pPr>
            <a:r>
              <a:rPr lang="en-US" sz="950" dirty="0">
                <a:solidFill>
                  <a:srgbClr val="0F172A"/>
                </a:solidFill>
              </a:rPr>
              <a:t>ONDC + hyperlocal subs integration</a:t>
            </a:r>
            <a:endParaRPr lang="en-US" sz="950" dirty="0"/>
          </a:p>
        </p:txBody>
      </p:sp>
      <p:sp>
        <p:nvSpPr>
          <p:cNvPr id="51" name="Text 49"/>
          <p:cNvSpPr/>
          <p:nvPr/>
        </p:nvSpPr>
        <p:spPr>
          <a:xfrm>
            <a:off x="3200400" y="3794760"/>
            <a:ext cx="1280160" cy="329184"/>
          </a:xfrm>
          <a:prstGeom prst="rect">
            <a:avLst/>
          </a:prstGeom>
          <a:noFill/>
          <a:ln/>
        </p:spPr>
        <p:txBody>
          <a:bodyPr wrap="square" lIns="0" tIns="0" rIns="0" bIns="0" rtlCol="0" anchor="ctr"/>
          <a:lstStyle/>
          <a:p>
            <a:pPr indent="0" marL="0">
              <a:buNone/>
            </a:pPr>
            <a:r>
              <a:rPr lang="en-US" sz="900" dirty="0">
                <a:solidFill>
                  <a:srgbClr val="0F172A"/>
                </a:solidFill>
              </a:rPr>
              <a:t>Collab</a:t>
            </a:r>
            <a:endParaRPr lang="en-US" sz="900" dirty="0"/>
          </a:p>
        </p:txBody>
      </p:sp>
      <p:sp>
        <p:nvSpPr>
          <p:cNvPr id="52" name="Text 50"/>
          <p:cNvSpPr/>
          <p:nvPr/>
        </p:nvSpPr>
        <p:spPr>
          <a:xfrm>
            <a:off x="4572000" y="3794760"/>
            <a:ext cx="640080" cy="329184"/>
          </a:xfrm>
          <a:prstGeom prst="rect">
            <a:avLst/>
          </a:prstGeom>
          <a:noFill/>
          <a:ln/>
        </p:spPr>
        <p:txBody>
          <a:bodyPr wrap="square" lIns="0" tIns="0" rIns="0" bIns="0" rtlCol="0" anchor="ctr"/>
          <a:lstStyle/>
          <a:p>
            <a:pPr indent="0" marL="0">
              <a:buNone/>
            </a:pPr>
            <a:r>
              <a:rPr lang="en-US" sz="900" b="1" dirty="0">
                <a:solidFill>
                  <a:srgbClr val="EF4444"/>
                </a:solidFill>
              </a:rPr>
              <a:t>Very High</a:t>
            </a:r>
            <a:endParaRPr lang="en-US" sz="900" dirty="0"/>
          </a:p>
        </p:txBody>
      </p:sp>
      <p:sp>
        <p:nvSpPr>
          <p:cNvPr id="53" name="Text 51"/>
          <p:cNvSpPr/>
          <p:nvPr/>
        </p:nvSpPr>
        <p:spPr>
          <a:xfrm>
            <a:off x="5303520" y="3794760"/>
            <a:ext cx="640080" cy="329184"/>
          </a:xfrm>
          <a:prstGeom prst="rect">
            <a:avLst/>
          </a:prstGeom>
          <a:noFill/>
          <a:ln/>
        </p:spPr>
        <p:txBody>
          <a:bodyPr wrap="square" lIns="0" tIns="0" rIns="0" bIns="0" rtlCol="0" anchor="ctr"/>
          <a:lstStyle/>
          <a:p>
            <a:pPr indent="0" marL="0">
              <a:buNone/>
            </a:pPr>
            <a:r>
              <a:rPr lang="en-US" sz="900" dirty="0">
                <a:solidFill>
                  <a:srgbClr val="0F172A"/>
                </a:solidFill>
              </a:rPr>
              <a:t>High</a:t>
            </a:r>
            <a:endParaRPr lang="en-US" sz="900" dirty="0"/>
          </a:p>
        </p:txBody>
      </p:sp>
      <p:sp>
        <p:nvSpPr>
          <p:cNvPr id="54" name="Text 52"/>
          <p:cNvSpPr/>
          <p:nvPr/>
        </p:nvSpPr>
        <p:spPr>
          <a:xfrm>
            <a:off x="6035040" y="3794760"/>
            <a:ext cx="731520" cy="329184"/>
          </a:xfrm>
          <a:prstGeom prst="rect">
            <a:avLst/>
          </a:prstGeom>
          <a:noFill/>
          <a:ln/>
        </p:spPr>
        <p:txBody>
          <a:bodyPr wrap="square" lIns="0" tIns="0" rIns="0" bIns="0" rtlCol="0" anchor="ctr"/>
          <a:lstStyle/>
          <a:p>
            <a:pPr indent="0" marL="0">
              <a:buNone/>
            </a:pPr>
            <a:r>
              <a:rPr lang="en-US" sz="900" b="1" dirty="0">
                <a:solidFill>
                  <a:srgbClr val="4F46E5"/>
                </a:solidFill>
              </a:rPr>
              <a:t>P2</a:t>
            </a:r>
            <a:endParaRPr lang="en-US" sz="900" dirty="0"/>
          </a:p>
        </p:txBody>
      </p:sp>
      <p:sp>
        <p:nvSpPr>
          <p:cNvPr id="55" name="Text 53"/>
          <p:cNvSpPr/>
          <p:nvPr/>
        </p:nvSpPr>
        <p:spPr>
          <a:xfrm>
            <a:off x="6858000" y="3794760"/>
            <a:ext cx="731520" cy="329184"/>
          </a:xfrm>
          <a:prstGeom prst="rect">
            <a:avLst/>
          </a:prstGeom>
          <a:noFill/>
          <a:ln/>
        </p:spPr>
        <p:txBody>
          <a:bodyPr wrap="square" lIns="0" tIns="0" rIns="0" bIns="0" rtlCol="0" anchor="ctr"/>
          <a:lstStyle/>
          <a:p>
            <a:pPr indent="0" marL="0">
              <a:buNone/>
            </a:pPr>
            <a:r>
              <a:rPr lang="en-US" sz="900" dirty="0">
                <a:solidFill>
                  <a:srgbClr val="0F172A"/>
                </a:solidFill>
              </a:rPr>
              <a:t>Month 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457200"/>
          </a:xfrm>
          <a:prstGeom prst="rect">
            <a:avLst/>
          </a:prstGeom>
          <a:noFill/>
          <a:ln/>
        </p:spPr>
        <p:txBody>
          <a:bodyPr wrap="square" rtlCol="0" anchor="ctr"/>
          <a:lstStyle/>
          <a:p>
            <a:pPr indent="0" marL="0">
              <a:buNone/>
            </a:pPr>
            <a:r>
              <a:rPr lang="en-US" sz="2600" b="1" dirty="0">
                <a:solidFill>
                  <a:srgbClr val="0F172A"/>
                </a:solidFill>
                <a:latin typeface="Trebuchet MS" pitchFamily="34" charset="0"/>
                <a:ea typeface="Trebuchet MS" pitchFamily="34" charset="-122"/>
                <a:cs typeface="Trebuchet MS" pitchFamily="34" charset="-120"/>
              </a:rPr>
              <a:t>Competitor Landscape</a:t>
            </a:r>
            <a:endParaRPr lang="en-US" sz="2600" dirty="0"/>
          </a:p>
        </p:txBody>
      </p:sp>
      <p:sp>
        <p:nvSpPr>
          <p:cNvPr id="3" name="Shape 1"/>
          <p:cNvSpPr/>
          <p:nvPr/>
        </p:nvSpPr>
        <p:spPr>
          <a:xfrm>
            <a:off x="365760" y="822960"/>
            <a:ext cx="2560320" cy="320040"/>
          </a:xfrm>
          <a:prstGeom prst="rect">
            <a:avLst/>
          </a:prstGeom>
          <a:solidFill>
            <a:srgbClr val="0F172A"/>
          </a:solidFill>
          <a:ln w="12700">
            <a:solidFill>
              <a:srgbClr val="0F172A"/>
            </a:solidFill>
            <a:prstDash val="solid"/>
          </a:ln>
        </p:spPr>
      </p:sp>
      <p:sp>
        <p:nvSpPr>
          <p:cNvPr id="4" name="Text 2"/>
          <p:cNvSpPr/>
          <p:nvPr/>
        </p:nvSpPr>
        <p:spPr>
          <a:xfrm>
            <a:off x="411480" y="822960"/>
            <a:ext cx="2514600" cy="320040"/>
          </a:xfrm>
          <a:prstGeom prst="rect">
            <a:avLst/>
          </a:prstGeom>
          <a:noFill/>
          <a:ln/>
        </p:spPr>
        <p:txBody>
          <a:bodyPr wrap="square" lIns="0" tIns="0" rIns="0" bIns="0" rtlCol="0" anchor="ctr"/>
          <a:lstStyle/>
          <a:p>
            <a:pPr algn="l" indent="0" marL="0">
              <a:buNone/>
            </a:pPr>
            <a:endParaRPr lang="en-US" sz="850" dirty="0"/>
          </a:p>
        </p:txBody>
      </p:sp>
      <p:sp>
        <p:nvSpPr>
          <p:cNvPr id="5" name="Shape 3"/>
          <p:cNvSpPr/>
          <p:nvPr/>
        </p:nvSpPr>
        <p:spPr>
          <a:xfrm>
            <a:off x="2926080" y="822960"/>
            <a:ext cx="1188720" cy="320040"/>
          </a:xfrm>
          <a:prstGeom prst="rect">
            <a:avLst/>
          </a:prstGeom>
          <a:solidFill>
            <a:srgbClr val="4F46E5"/>
          </a:solidFill>
          <a:ln w="12700">
            <a:solidFill>
              <a:srgbClr val="0F172A"/>
            </a:solidFill>
            <a:prstDash val="solid"/>
          </a:ln>
        </p:spPr>
      </p:sp>
      <p:sp>
        <p:nvSpPr>
          <p:cNvPr id="6" name="Text 4"/>
          <p:cNvSpPr/>
          <p:nvPr/>
        </p:nvSpPr>
        <p:spPr>
          <a:xfrm>
            <a:off x="2971800" y="822960"/>
            <a:ext cx="1143000" cy="320040"/>
          </a:xfrm>
          <a:prstGeom prst="rect">
            <a:avLst/>
          </a:prstGeom>
          <a:noFill/>
          <a:ln/>
        </p:spPr>
        <p:txBody>
          <a:bodyPr wrap="square" lIns="0" tIns="0" rIns="0" bIns="0" rtlCol="0" anchor="ctr"/>
          <a:lstStyle/>
          <a:p>
            <a:pPr algn="ctr" indent="0" marL="0">
              <a:buNone/>
            </a:pPr>
            <a:r>
              <a:rPr lang="en-US" sz="900" b="1" dirty="0">
                <a:solidFill>
                  <a:srgbClr val="FFFFFF"/>
                </a:solidFill>
              </a:rPr>
              <a:t>Subspace</a:t>
            </a:r>
            <a:endParaRPr lang="en-US" sz="900" dirty="0"/>
          </a:p>
        </p:txBody>
      </p:sp>
      <p:sp>
        <p:nvSpPr>
          <p:cNvPr id="7" name="Shape 5"/>
          <p:cNvSpPr/>
          <p:nvPr/>
        </p:nvSpPr>
        <p:spPr>
          <a:xfrm>
            <a:off x="4114800" y="822960"/>
            <a:ext cx="1188720" cy="320040"/>
          </a:xfrm>
          <a:prstGeom prst="rect">
            <a:avLst/>
          </a:prstGeom>
          <a:solidFill>
            <a:srgbClr val="0F172A"/>
          </a:solidFill>
          <a:ln w="12700">
            <a:solidFill>
              <a:srgbClr val="0F172A"/>
            </a:solidFill>
            <a:prstDash val="solid"/>
          </a:ln>
        </p:spPr>
      </p:sp>
      <p:sp>
        <p:nvSpPr>
          <p:cNvPr id="8" name="Text 6"/>
          <p:cNvSpPr/>
          <p:nvPr/>
        </p:nvSpPr>
        <p:spPr>
          <a:xfrm>
            <a:off x="4160520" y="822960"/>
            <a:ext cx="1143000" cy="320040"/>
          </a:xfrm>
          <a:prstGeom prst="rect">
            <a:avLst/>
          </a:prstGeom>
          <a:noFill/>
          <a:ln/>
        </p:spPr>
        <p:txBody>
          <a:bodyPr wrap="square" lIns="0" tIns="0" rIns="0" bIns="0" rtlCol="0" anchor="ctr"/>
          <a:lstStyle/>
          <a:p>
            <a:pPr algn="ctr" indent="0" marL="0">
              <a:buNone/>
            </a:pPr>
            <a:r>
              <a:rPr lang="en-US" sz="900" b="1" dirty="0">
                <a:solidFill>
                  <a:srgbClr val="FFFFFF"/>
                </a:solidFill>
              </a:rPr>
              <a:t>myPaisaa</a:t>
            </a:r>
            <a:endParaRPr lang="en-US" sz="900" dirty="0"/>
          </a:p>
        </p:txBody>
      </p:sp>
      <p:sp>
        <p:nvSpPr>
          <p:cNvPr id="9" name="Shape 7"/>
          <p:cNvSpPr/>
          <p:nvPr/>
        </p:nvSpPr>
        <p:spPr>
          <a:xfrm>
            <a:off x="5303520" y="822960"/>
            <a:ext cx="1188720" cy="320040"/>
          </a:xfrm>
          <a:prstGeom prst="rect">
            <a:avLst/>
          </a:prstGeom>
          <a:solidFill>
            <a:srgbClr val="0F172A"/>
          </a:solidFill>
          <a:ln w="12700">
            <a:solidFill>
              <a:srgbClr val="0F172A"/>
            </a:solidFill>
            <a:prstDash val="solid"/>
          </a:ln>
        </p:spPr>
      </p:sp>
      <p:sp>
        <p:nvSpPr>
          <p:cNvPr id="10" name="Text 8"/>
          <p:cNvSpPr/>
          <p:nvPr/>
        </p:nvSpPr>
        <p:spPr>
          <a:xfrm>
            <a:off x="5349240" y="822960"/>
            <a:ext cx="1143000" cy="320040"/>
          </a:xfrm>
          <a:prstGeom prst="rect">
            <a:avLst/>
          </a:prstGeom>
          <a:noFill/>
          <a:ln/>
        </p:spPr>
        <p:txBody>
          <a:bodyPr wrap="square" lIns="0" tIns="0" rIns="0" bIns="0" rtlCol="0" anchor="ctr"/>
          <a:lstStyle/>
          <a:p>
            <a:pPr algn="ctr" indent="0" marL="0">
              <a:buNone/>
            </a:pPr>
            <a:r>
              <a:rPr lang="en-US" sz="900" b="1" dirty="0">
                <a:solidFill>
                  <a:srgbClr val="FFFFFF"/>
                </a:solidFill>
              </a:rPr>
              <a:t>Woohoo</a:t>
            </a:r>
            <a:endParaRPr lang="en-US" sz="900" dirty="0"/>
          </a:p>
        </p:txBody>
      </p:sp>
      <p:sp>
        <p:nvSpPr>
          <p:cNvPr id="11" name="Shape 9"/>
          <p:cNvSpPr/>
          <p:nvPr/>
        </p:nvSpPr>
        <p:spPr>
          <a:xfrm>
            <a:off x="6492240" y="822960"/>
            <a:ext cx="1188720" cy="320040"/>
          </a:xfrm>
          <a:prstGeom prst="rect">
            <a:avLst/>
          </a:prstGeom>
          <a:solidFill>
            <a:srgbClr val="0F172A"/>
          </a:solidFill>
          <a:ln w="12700">
            <a:solidFill>
              <a:srgbClr val="0F172A"/>
            </a:solidFill>
            <a:prstDash val="solid"/>
          </a:ln>
        </p:spPr>
      </p:sp>
      <p:sp>
        <p:nvSpPr>
          <p:cNvPr id="12" name="Text 10"/>
          <p:cNvSpPr/>
          <p:nvPr/>
        </p:nvSpPr>
        <p:spPr>
          <a:xfrm>
            <a:off x="6537960" y="822960"/>
            <a:ext cx="1143000" cy="320040"/>
          </a:xfrm>
          <a:prstGeom prst="rect">
            <a:avLst/>
          </a:prstGeom>
          <a:noFill/>
          <a:ln/>
        </p:spPr>
        <p:txBody>
          <a:bodyPr wrap="square" lIns="0" tIns="0" rIns="0" bIns="0" rtlCol="0" anchor="ctr"/>
          <a:lstStyle/>
          <a:p>
            <a:pPr algn="ctr" indent="0" marL="0">
              <a:buNone/>
            </a:pPr>
            <a:r>
              <a:rPr lang="en-US" sz="900" b="1" dirty="0">
                <a:solidFill>
                  <a:srgbClr val="FFFFFF"/>
                </a:solidFill>
              </a:rPr>
              <a:t>Paytm Subs</a:t>
            </a:r>
            <a:endParaRPr lang="en-US" sz="900" dirty="0"/>
          </a:p>
        </p:txBody>
      </p:sp>
      <p:sp>
        <p:nvSpPr>
          <p:cNvPr id="13" name="Shape 11"/>
          <p:cNvSpPr/>
          <p:nvPr/>
        </p:nvSpPr>
        <p:spPr>
          <a:xfrm>
            <a:off x="7680960" y="822960"/>
            <a:ext cx="1188720" cy="320040"/>
          </a:xfrm>
          <a:prstGeom prst="rect">
            <a:avLst/>
          </a:prstGeom>
          <a:solidFill>
            <a:srgbClr val="0F172A"/>
          </a:solidFill>
          <a:ln w="12700">
            <a:solidFill>
              <a:srgbClr val="0F172A"/>
            </a:solidFill>
            <a:prstDash val="solid"/>
          </a:ln>
        </p:spPr>
      </p:sp>
      <p:sp>
        <p:nvSpPr>
          <p:cNvPr id="14" name="Text 12"/>
          <p:cNvSpPr/>
          <p:nvPr/>
        </p:nvSpPr>
        <p:spPr>
          <a:xfrm>
            <a:off x="7726680" y="822960"/>
            <a:ext cx="1143000" cy="320040"/>
          </a:xfrm>
          <a:prstGeom prst="rect">
            <a:avLst/>
          </a:prstGeom>
          <a:noFill/>
          <a:ln/>
        </p:spPr>
        <p:txBody>
          <a:bodyPr wrap="square" lIns="0" tIns="0" rIns="0" bIns="0" rtlCol="0" anchor="ctr"/>
          <a:lstStyle/>
          <a:p>
            <a:pPr algn="ctr" indent="0" marL="0">
              <a:buNone/>
            </a:pPr>
            <a:r>
              <a:rPr lang="en-US" sz="900" b="1" dirty="0">
                <a:solidFill>
                  <a:srgbClr val="FFFFFF"/>
                </a:solidFill>
              </a:rPr>
              <a:t>MoneyClub</a:t>
            </a:r>
            <a:endParaRPr lang="en-US" sz="900" dirty="0"/>
          </a:p>
        </p:txBody>
      </p:sp>
      <p:sp>
        <p:nvSpPr>
          <p:cNvPr id="15" name="Shape 13"/>
          <p:cNvSpPr/>
          <p:nvPr/>
        </p:nvSpPr>
        <p:spPr>
          <a:xfrm>
            <a:off x="365760" y="1170432"/>
            <a:ext cx="2560320" cy="365760"/>
          </a:xfrm>
          <a:prstGeom prst="rect">
            <a:avLst/>
          </a:prstGeom>
          <a:solidFill>
            <a:srgbClr val="F1F5F9"/>
          </a:solidFill>
          <a:ln w="6350">
            <a:solidFill>
              <a:srgbClr val="E2E8F0"/>
            </a:solidFill>
            <a:prstDash val="solid"/>
          </a:ln>
        </p:spPr>
      </p:sp>
      <p:sp>
        <p:nvSpPr>
          <p:cNvPr id="16" name="Text 14"/>
          <p:cNvSpPr/>
          <p:nvPr/>
        </p:nvSpPr>
        <p:spPr>
          <a:xfrm>
            <a:off x="411480" y="1225296"/>
            <a:ext cx="2468880" cy="274320"/>
          </a:xfrm>
          <a:prstGeom prst="rect">
            <a:avLst/>
          </a:prstGeom>
          <a:noFill/>
          <a:ln/>
        </p:spPr>
        <p:txBody>
          <a:bodyPr wrap="square" lIns="0" tIns="0" rIns="0" bIns="0" rtlCol="0" anchor="ctr"/>
          <a:lstStyle/>
          <a:p>
            <a:pPr algn="l" indent="0" marL="0">
              <a:buNone/>
            </a:pPr>
            <a:r>
              <a:rPr lang="en-US" sz="850" dirty="0">
                <a:solidFill>
                  <a:srgbClr val="64748B"/>
                </a:solidFill>
              </a:rPr>
              <a:t>Shared OTT subscriptions</a:t>
            </a:r>
            <a:endParaRPr lang="en-US" sz="850" dirty="0"/>
          </a:p>
        </p:txBody>
      </p:sp>
      <p:sp>
        <p:nvSpPr>
          <p:cNvPr id="17" name="Shape 15"/>
          <p:cNvSpPr/>
          <p:nvPr/>
        </p:nvSpPr>
        <p:spPr>
          <a:xfrm>
            <a:off x="2926080" y="1170432"/>
            <a:ext cx="1188720" cy="365760"/>
          </a:xfrm>
          <a:prstGeom prst="rect">
            <a:avLst/>
          </a:prstGeom>
          <a:solidFill>
            <a:srgbClr val="EEF2FF"/>
          </a:solidFill>
          <a:ln w="6350">
            <a:solidFill>
              <a:srgbClr val="E2E8F0"/>
            </a:solidFill>
            <a:prstDash val="solid"/>
          </a:ln>
        </p:spPr>
      </p:sp>
      <p:sp>
        <p:nvSpPr>
          <p:cNvPr id="18" name="Text 16"/>
          <p:cNvSpPr/>
          <p:nvPr/>
        </p:nvSpPr>
        <p:spPr>
          <a:xfrm>
            <a:off x="2971800" y="1225296"/>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19" name="Shape 17"/>
          <p:cNvSpPr/>
          <p:nvPr/>
        </p:nvSpPr>
        <p:spPr>
          <a:xfrm>
            <a:off x="4114800" y="1170432"/>
            <a:ext cx="1188720" cy="365760"/>
          </a:xfrm>
          <a:prstGeom prst="rect">
            <a:avLst/>
          </a:prstGeom>
          <a:solidFill>
            <a:srgbClr val="F1F5F9"/>
          </a:solidFill>
          <a:ln w="6350">
            <a:solidFill>
              <a:srgbClr val="E2E8F0"/>
            </a:solidFill>
            <a:prstDash val="solid"/>
          </a:ln>
        </p:spPr>
      </p:sp>
      <p:sp>
        <p:nvSpPr>
          <p:cNvPr id="20" name="Text 18"/>
          <p:cNvSpPr/>
          <p:nvPr/>
        </p:nvSpPr>
        <p:spPr>
          <a:xfrm>
            <a:off x="4160520" y="1225296"/>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21" name="Shape 19"/>
          <p:cNvSpPr/>
          <p:nvPr/>
        </p:nvSpPr>
        <p:spPr>
          <a:xfrm>
            <a:off x="5303520" y="1170432"/>
            <a:ext cx="1188720" cy="365760"/>
          </a:xfrm>
          <a:prstGeom prst="rect">
            <a:avLst/>
          </a:prstGeom>
          <a:solidFill>
            <a:srgbClr val="F1F5F9"/>
          </a:solidFill>
          <a:ln w="6350">
            <a:solidFill>
              <a:srgbClr val="E2E8F0"/>
            </a:solidFill>
            <a:prstDash val="solid"/>
          </a:ln>
        </p:spPr>
      </p:sp>
      <p:sp>
        <p:nvSpPr>
          <p:cNvPr id="22" name="Text 20"/>
          <p:cNvSpPr/>
          <p:nvPr/>
        </p:nvSpPr>
        <p:spPr>
          <a:xfrm>
            <a:off x="5349240" y="1225296"/>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23" name="Shape 21"/>
          <p:cNvSpPr/>
          <p:nvPr/>
        </p:nvSpPr>
        <p:spPr>
          <a:xfrm>
            <a:off x="6492240" y="1170432"/>
            <a:ext cx="1188720" cy="365760"/>
          </a:xfrm>
          <a:prstGeom prst="rect">
            <a:avLst/>
          </a:prstGeom>
          <a:solidFill>
            <a:srgbClr val="F1F5F9"/>
          </a:solidFill>
          <a:ln w="6350">
            <a:solidFill>
              <a:srgbClr val="E2E8F0"/>
            </a:solidFill>
            <a:prstDash val="solid"/>
          </a:ln>
        </p:spPr>
      </p:sp>
      <p:sp>
        <p:nvSpPr>
          <p:cNvPr id="24" name="Text 22"/>
          <p:cNvSpPr/>
          <p:nvPr/>
        </p:nvSpPr>
        <p:spPr>
          <a:xfrm>
            <a:off x="6537960" y="1225296"/>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25" name="Shape 23"/>
          <p:cNvSpPr/>
          <p:nvPr/>
        </p:nvSpPr>
        <p:spPr>
          <a:xfrm>
            <a:off x="7680960" y="1170432"/>
            <a:ext cx="1188720" cy="365760"/>
          </a:xfrm>
          <a:prstGeom prst="rect">
            <a:avLst/>
          </a:prstGeom>
          <a:solidFill>
            <a:srgbClr val="F1F5F9"/>
          </a:solidFill>
          <a:ln w="6350">
            <a:solidFill>
              <a:srgbClr val="E2E8F0"/>
            </a:solidFill>
            <a:prstDash val="solid"/>
          </a:ln>
        </p:spPr>
      </p:sp>
      <p:sp>
        <p:nvSpPr>
          <p:cNvPr id="26" name="Text 24"/>
          <p:cNvSpPr/>
          <p:nvPr/>
        </p:nvSpPr>
        <p:spPr>
          <a:xfrm>
            <a:off x="7726680" y="1225296"/>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27" name="Shape 25"/>
          <p:cNvSpPr/>
          <p:nvPr/>
        </p:nvSpPr>
        <p:spPr>
          <a:xfrm>
            <a:off x="365760" y="1563624"/>
            <a:ext cx="2560320" cy="365760"/>
          </a:xfrm>
          <a:prstGeom prst="rect">
            <a:avLst/>
          </a:prstGeom>
          <a:solidFill>
            <a:srgbClr val="FFFFFF"/>
          </a:solidFill>
          <a:ln w="6350">
            <a:solidFill>
              <a:srgbClr val="E2E8F0"/>
            </a:solidFill>
            <a:prstDash val="solid"/>
          </a:ln>
        </p:spPr>
      </p:sp>
      <p:sp>
        <p:nvSpPr>
          <p:cNvPr id="28" name="Text 26"/>
          <p:cNvSpPr/>
          <p:nvPr/>
        </p:nvSpPr>
        <p:spPr>
          <a:xfrm>
            <a:off x="411480" y="1618488"/>
            <a:ext cx="2468880" cy="274320"/>
          </a:xfrm>
          <a:prstGeom prst="rect">
            <a:avLst/>
          </a:prstGeom>
          <a:noFill/>
          <a:ln/>
        </p:spPr>
        <p:txBody>
          <a:bodyPr wrap="square" lIns="0" tIns="0" rIns="0" bIns="0" rtlCol="0" anchor="ctr"/>
          <a:lstStyle/>
          <a:p>
            <a:pPr algn="l" indent="0" marL="0">
              <a:buNone/>
            </a:pPr>
            <a:r>
              <a:rPr lang="en-US" sz="850" dirty="0">
                <a:solidFill>
                  <a:srgbClr val="64748B"/>
                </a:solidFill>
              </a:rPr>
              <a:t>Gift card marketplace</a:t>
            </a:r>
            <a:endParaRPr lang="en-US" sz="850" dirty="0"/>
          </a:p>
        </p:txBody>
      </p:sp>
      <p:sp>
        <p:nvSpPr>
          <p:cNvPr id="29" name="Shape 27"/>
          <p:cNvSpPr/>
          <p:nvPr/>
        </p:nvSpPr>
        <p:spPr>
          <a:xfrm>
            <a:off x="2926080" y="1563624"/>
            <a:ext cx="1188720" cy="365760"/>
          </a:xfrm>
          <a:prstGeom prst="rect">
            <a:avLst/>
          </a:prstGeom>
          <a:solidFill>
            <a:srgbClr val="F5F3FF"/>
          </a:solidFill>
          <a:ln w="6350">
            <a:solidFill>
              <a:srgbClr val="E2E8F0"/>
            </a:solidFill>
            <a:prstDash val="solid"/>
          </a:ln>
        </p:spPr>
      </p:sp>
      <p:sp>
        <p:nvSpPr>
          <p:cNvPr id="30" name="Text 28"/>
          <p:cNvSpPr/>
          <p:nvPr/>
        </p:nvSpPr>
        <p:spPr>
          <a:xfrm>
            <a:off x="2971800" y="1618488"/>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31" name="Shape 29"/>
          <p:cNvSpPr/>
          <p:nvPr/>
        </p:nvSpPr>
        <p:spPr>
          <a:xfrm>
            <a:off x="4114800" y="1563624"/>
            <a:ext cx="1188720" cy="365760"/>
          </a:xfrm>
          <a:prstGeom prst="rect">
            <a:avLst/>
          </a:prstGeom>
          <a:solidFill>
            <a:srgbClr val="FFFFFF"/>
          </a:solidFill>
          <a:ln w="6350">
            <a:solidFill>
              <a:srgbClr val="E2E8F0"/>
            </a:solidFill>
            <a:prstDash val="solid"/>
          </a:ln>
        </p:spPr>
      </p:sp>
      <p:sp>
        <p:nvSpPr>
          <p:cNvPr id="32" name="Text 30"/>
          <p:cNvSpPr/>
          <p:nvPr/>
        </p:nvSpPr>
        <p:spPr>
          <a:xfrm>
            <a:off x="4160520" y="1618488"/>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33" name="Shape 31"/>
          <p:cNvSpPr/>
          <p:nvPr/>
        </p:nvSpPr>
        <p:spPr>
          <a:xfrm>
            <a:off x="5303520" y="1563624"/>
            <a:ext cx="1188720" cy="365760"/>
          </a:xfrm>
          <a:prstGeom prst="rect">
            <a:avLst/>
          </a:prstGeom>
          <a:solidFill>
            <a:srgbClr val="FFFFFF"/>
          </a:solidFill>
          <a:ln w="6350">
            <a:solidFill>
              <a:srgbClr val="E2E8F0"/>
            </a:solidFill>
            <a:prstDash val="solid"/>
          </a:ln>
        </p:spPr>
      </p:sp>
      <p:sp>
        <p:nvSpPr>
          <p:cNvPr id="34" name="Text 32"/>
          <p:cNvSpPr/>
          <p:nvPr/>
        </p:nvSpPr>
        <p:spPr>
          <a:xfrm>
            <a:off x="5349240" y="1618488"/>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35" name="Shape 33"/>
          <p:cNvSpPr/>
          <p:nvPr/>
        </p:nvSpPr>
        <p:spPr>
          <a:xfrm>
            <a:off x="6492240" y="1563624"/>
            <a:ext cx="1188720" cy="365760"/>
          </a:xfrm>
          <a:prstGeom prst="rect">
            <a:avLst/>
          </a:prstGeom>
          <a:solidFill>
            <a:srgbClr val="FFFFFF"/>
          </a:solidFill>
          <a:ln w="6350">
            <a:solidFill>
              <a:srgbClr val="E2E8F0"/>
            </a:solidFill>
            <a:prstDash val="solid"/>
          </a:ln>
        </p:spPr>
      </p:sp>
      <p:sp>
        <p:nvSpPr>
          <p:cNvPr id="36" name="Text 34"/>
          <p:cNvSpPr/>
          <p:nvPr/>
        </p:nvSpPr>
        <p:spPr>
          <a:xfrm>
            <a:off x="6537960" y="1618488"/>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37" name="Shape 35"/>
          <p:cNvSpPr/>
          <p:nvPr/>
        </p:nvSpPr>
        <p:spPr>
          <a:xfrm>
            <a:off x="7680960" y="1563624"/>
            <a:ext cx="1188720" cy="365760"/>
          </a:xfrm>
          <a:prstGeom prst="rect">
            <a:avLst/>
          </a:prstGeom>
          <a:solidFill>
            <a:srgbClr val="FFFFFF"/>
          </a:solidFill>
          <a:ln w="6350">
            <a:solidFill>
              <a:srgbClr val="E2E8F0"/>
            </a:solidFill>
            <a:prstDash val="solid"/>
          </a:ln>
        </p:spPr>
      </p:sp>
      <p:sp>
        <p:nvSpPr>
          <p:cNvPr id="38" name="Text 36"/>
          <p:cNvSpPr/>
          <p:nvPr/>
        </p:nvSpPr>
        <p:spPr>
          <a:xfrm>
            <a:off x="7726680" y="1618488"/>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39" name="Shape 37"/>
          <p:cNvSpPr/>
          <p:nvPr/>
        </p:nvSpPr>
        <p:spPr>
          <a:xfrm>
            <a:off x="365760" y="1956816"/>
            <a:ext cx="2560320" cy="365760"/>
          </a:xfrm>
          <a:prstGeom prst="rect">
            <a:avLst/>
          </a:prstGeom>
          <a:solidFill>
            <a:srgbClr val="F1F5F9"/>
          </a:solidFill>
          <a:ln w="6350">
            <a:solidFill>
              <a:srgbClr val="E2E8F0"/>
            </a:solidFill>
            <a:prstDash val="solid"/>
          </a:ln>
        </p:spPr>
      </p:sp>
      <p:sp>
        <p:nvSpPr>
          <p:cNvPr id="40" name="Text 38"/>
          <p:cNvSpPr/>
          <p:nvPr/>
        </p:nvSpPr>
        <p:spPr>
          <a:xfrm>
            <a:off x="411480" y="2011680"/>
            <a:ext cx="2468880" cy="274320"/>
          </a:xfrm>
          <a:prstGeom prst="rect">
            <a:avLst/>
          </a:prstGeom>
          <a:noFill/>
          <a:ln/>
        </p:spPr>
        <p:txBody>
          <a:bodyPr wrap="square" lIns="0" tIns="0" rIns="0" bIns="0" rtlCol="0" anchor="ctr"/>
          <a:lstStyle/>
          <a:p>
            <a:pPr algn="l" indent="0" marL="0">
              <a:buNone/>
            </a:pPr>
            <a:r>
              <a:rPr lang="en-US" sz="850" dirty="0">
                <a:solidFill>
                  <a:srgbClr val="64748B"/>
                </a:solidFill>
              </a:rPr>
              <a:t>Negotiate API</a:t>
            </a:r>
            <a:endParaRPr lang="en-US" sz="850" dirty="0"/>
          </a:p>
        </p:txBody>
      </p:sp>
      <p:sp>
        <p:nvSpPr>
          <p:cNvPr id="41" name="Shape 39"/>
          <p:cNvSpPr/>
          <p:nvPr/>
        </p:nvSpPr>
        <p:spPr>
          <a:xfrm>
            <a:off x="2926080" y="1956816"/>
            <a:ext cx="1188720" cy="365760"/>
          </a:xfrm>
          <a:prstGeom prst="rect">
            <a:avLst/>
          </a:prstGeom>
          <a:solidFill>
            <a:srgbClr val="EEF2FF"/>
          </a:solidFill>
          <a:ln w="6350">
            <a:solidFill>
              <a:srgbClr val="E2E8F0"/>
            </a:solidFill>
            <a:prstDash val="solid"/>
          </a:ln>
        </p:spPr>
      </p:sp>
      <p:sp>
        <p:nvSpPr>
          <p:cNvPr id="42" name="Text 40"/>
          <p:cNvSpPr/>
          <p:nvPr/>
        </p:nvSpPr>
        <p:spPr>
          <a:xfrm>
            <a:off x="2971800" y="2011680"/>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43" name="Shape 41"/>
          <p:cNvSpPr/>
          <p:nvPr/>
        </p:nvSpPr>
        <p:spPr>
          <a:xfrm>
            <a:off x="4114800" y="1956816"/>
            <a:ext cx="1188720" cy="365760"/>
          </a:xfrm>
          <a:prstGeom prst="rect">
            <a:avLst/>
          </a:prstGeom>
          <a:solidFill>
            <a:srgbClr val="F1F5F9"/>
          </a:solidFill>
          <a:ln w="6350">
            <a:solidFill>
              <a:srgbClr val="E2E8F0"/>
            </a:solidFill>
            <a:prstDash val="solid"/>
          </a:ln>
        </p:spPr>
      </p:sp>
      <p:sp>
        <p:nvSpPr>
          <p:cNvPr id="44" name="Text 42"/>
          <p:cNvSpPr/>
          <p:nvPr/>
        </p:nvSpPr>
        <p:spPr>
          <a:xfrm>
            <a:off x="4160520" y="2011680"/>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45" name="Shape 43"/>
          <p:cNvSpPr/>
          <p:nvPr/>
        </p:nvSpPr>
        <p:spPr>
          <a:xfrm>
            <a:off x="5303520" y="1956816"/>
            <a:ext cx="1188720" cy="365760"/>
          </a:xfrm>
          <a:prstGeom prst="rect">
            <a:avLst/>
          </a:prstGeom>
          <a:solidFill>
            <a:srgbClr val="F1F5F9"/>
          </a:solidFill>
          <a:ln w="6350">
            <a:solidFill>
              <a:srgbClr val="E2E8F0"/>
            </a:solidFill>
            <a:prstDash val="solid"/>
          </a:ln>
        </p:spPr>
      </p:sp>
      <p:sp>
        <p:nvSpPr>
          <p:cNvPr id="46" name="Text 44"/>
          <p:cNvSpPr/>
          <p:nvPr/>
        </p:nvSpPr>
        <p:spPr>
          <a:xfrm>
            <a:off x="5349240" y="2011680"/>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47" name="Shape 45"/>
          <p:cNvSpPr/>
          <p:nvPr/>
        </p:nvSpPr>
        <p:spPr>
          <a:xfrm>
            <a:off x="6492240" y="1956816"/>
            <a:ext cx="1188720" cy="365760"/>
          </a:xfrm>
          <a:prstGeom prst="rect">
            <a:avLst/>
          </a:prstGeom>
          <a:solidFill>
            <a:srgbClr val="F1F5F9"/>
          </a:solidFill>
          <a:ln w="6350">
            <a:solidFill>
              <a:srgbClr val="E2E8F0"/>
            </a:solidFill>
            <a:prstDash val="solid"/>
          </a:ln>
        </p:spPr>
      </p:sp>
      <p:sp>
        <p:nvSpPr>
          <p:cNvPr id="48" name="Text 46"/>
          <p:cNvSpPr/>
          <p:nvPr/>
        </p:nvSpPr>
        <p:spPr>
          <a:xfrm>
            <a:off x="6537960" y="2011680"/>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49" name="Shape 47"/>
          <p:cNvSpPr/>
          <p:nvPr/>
        </p:nvSpPr>
        <p:spPr>
          <a:xfrm>
            <a:off x="7680960" y="1956816"/>
            <a:ext cx="1188720" cy="365760"/>
          </a:xfrm>
          <a:prstGeom prst="rect">
            <a:avLst/>
          </a:prstGeom>
          <a:solidFill>
            <a:srgbClr val="F1F5F9"/>
          </a:solidFill>
          <a:ln w="6350">
            <a:solidFill>
              <a:srgbClr val="E2E8F0"/>
            </a:solidFill>
            <a:prstDash val="solid"/>
          </a:ln>
        </p:spPr>
      </p:sp>
      <p:sp>
        <p:nvSpPr>
          <p:cNvPr id="50" name="Text 48"/>
          <p:cNvSpPr/>
          <p:nvPr/>
        </p:nvSpPr>
        <p:spPr>
          <a:xfrm>
            <a:off x="7726680" y="2011680"/>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51" name="Shape 49"/>
          <p:cNvSpPr/>
          <p:nvPr/>
        </p:nvSpPr>
        <p:spPr>
          <a:xfrm>
            <a:off x="365760" y="2350008"/>
            <a:ext cx="2560320" cy="365760"/>
          </a:xfrm>
          <a:prstGeom prst="rect">
            <a:avLst/>
          </a:prstGeom>
          <a:solidFill>
            <a:srgbClr val="FFFFFF"/>
          </a:solidFill>
          <a:ln w="6350">
            <a:solidFill>
              <a:srgbClr val="E2E8F0"/>
            </a:solidFill>
            <a:prstDash val="solid"/>
          </a:ln>
        </p:spPr>
      </p:sp>
      <p:sp>
        <p:nvSpPr>
          <p:cNvPr id="52" name="Text 50"/>
          <p:cNvSpPr/>
          <p:nvPr/>
        </p:nvSpPr>
        <p:spPr>
          <a:xfrm>
            <a:off x="411480" y="2404872"/>
            <a:ext cx="2468880" cy="274320"/>
          </a:xfrm>
          <a:prstGeom prst="rect">
            <a:avLst/>
          </a:prstGeom>
          <a:noFill/>
          <a:ln/>
        </p:spPr>
        <p:txBody>
          <a:bodyPr wrap="square" lIns="0" tIns="0" rIns="0" bIns="0" rtlCol="0" anchor="ctr"/>
          <a:lstStyle/>
          <a:p>
            <a:pPr algn="l" indent="0" marL="0">
              <a:buNone/>
            </a:pPr>
            <a:r>
              <a:rPr lang="en-US" sz="850" dirty="0">
                <a:solidFill>
                  <a:srgbClr val="64748B"/>
                </a:solidFill>
              </a:rPr>
              <a:t>Local/hyperlocal subs</a:t>
            </a:r>
            <a:endParaRPr lang="en-US" sz="850" dirty="0"/>
          </a:p>
        </p:txBody>
      </p:sp>
      <p:sp>
        <p:nvSpPr>
          <p:cNvPr id="53" name="Shape 51"/>
          <p:cNvSpPr/>
          <p:nvPr/>
        </p:nvSpPr>
        <p:spPr>
          <a:xfrm>
            <a:off x="2926080" y="2350008"/>
            <a:ext cx="1188720" cy="365760"/>
          </a:xfrm>
          <a:prstGeom prst="rect">
            <a:avLst/>
          </a:prstGeom>
          <a:solidFill>
            <a:srgbClr val="F5F3FF"/>
          </a:solidFill>
          <a:ln w="6350">
            <a:solidFill>
              <a:srgbClr val="E2E8F0"/>
            </a:solidFill>
            <a:prstDash val="solid"/>
          </a:ln>
        </p:spPr>
      </p:sp>
      <p:sp>
        <p:nvSpPr>
          <p:cNvPr id="54" name="Text 52"/>
          <p:cNvSpPr/>
          <p:nvPr/>
        </p:nvSpPr>
        <p:spPr>
          <a:xfrm>
            <a:off x="2971800" y="2404872"/>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55" name="Shape 53"/>
          <p:cNvSpPr/>
          <p:nvPr/>
        </p:nvSpPr>
        <p:spPr>
          <a:xfrm>
            <a:off x="4114800" y="2350008"/>
            <a:ext cx="1188720" cy="365760"/>
          </a:xfrm>
          <a:prstGeom prst="rect">
            <a:avLst/>
          </a:prstGeom>
          <a:solidFill>
            <a:srgbClr val="FFFFFF"/>
          </a:solidFill>
          <a:ln w="6350">
            <a:solidFill>
              <a:srgbClr val="E2E8F0"/>
            </a:solidFill>
            <a:prstDash val="solid"/>
          </a:ln>
        </p:spPr>
      </p:sp>
      <p:sp>
        <p:nvSpPr>
          <p:cNvPr id="56" name="Text 54"/>
          <p:cNvSpPr/>
          <p:nvPr/>
        </p:nvSpPr>
        <p:spPr>
          <a:xfrm>
            <a:off x="4160520" y="2404872"/>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57" name="Shape 55"/>
          <p:cNvSpPr/>
          <p:nvPr/>
        </p:nvSpPr>
        <p:spPr>
          <a:xfrm>
            <a:off x="5303520" y="2350008"/>
            <a:ext cx="1188720" cy="365760"/>
          </a:xfrm>
          <a:prstGeom prst="rect">
            <a:avLst/>
          </a:prstGeom>
          <a:solidFill>
            <a:srgbClr val="FFFFFF"/>
          </a:solidFill>
          <a:ln w="6350">
            <a:solidFill>
              <a:srgbClr val="E2E8F0"/>
            </a:solidFill>
            <a:prstDash val="solid"/>
          </a:ln>
        </p:spPr>
      </p:sp>
      <p:sp>
        <p:nvSpPr>
          <p:cNvPr id="58" name="Text 56"/>
          <p:cNvSpPr/>
          <p:nvPr/>
        </p:nvSpPr>
        <p:spPr>
          <a:xfrm>
            <a:off x="5349240" y="2404872"/>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59" name="Shape 57"/>
          <p:cNvSpPr/>
          <p:nvPr/>
        </p:nvSpPr>
        <p:spPr>
          <a:xfrm>
            <a:off x="6492240" y="2350008"/>
            <a:ext cx="1188720" cy="365760"/>
          </a:xfrm>
          <a:prstGeom prst="rect">
            <a:avLst/>
          </a:prstGeom>
          <a:solidFill>
            <a:srgbClr val="FFFFFF"/>
          </a:solidFill>
          <a:ln w="6350">
            <a:solidFill>
              <a:srgbClr val="E2E8F0"/>
            </a:solidFill>
            <a:prstDash val="solid"/>
          </a:ln>
        </p:spPr>
      </p:sp>
      <p:sp>
        <p:nvSpPr>
          <p:cNvPr id="60" name="Text 58"/>
          <p:cNvSpPr/>
          <p:nvPr/>
        </p:nvSpPr>
        <p:spPr>
          <a:xfrm>
            <a:off x="6537960" y="2404872"/>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61" name="Shape 59"/>
          <p:cNvSpPr/>
          <p:nvPr/>
        </p:nvSpPr>
        <p:spPr>
          <a:xfrm>
            <a:off x="7680960" y="2350008"/>
            <a:ext cx="1188720" cy="365760"/>
          </a:xfrm>
          <a:prstGeom prst="rect">
            <a:avLst/>
          </a:prstGeom>
          <a:solidFill>
            <a:srgbClr val="FFFFFF"/>
          </a:solidFill>
          <a:ln w="6350">
            <a:solidFill>
              <a:srgbClr val="E2E8F0"/>
            </a:solidFill>
            <a:prstDash val="solid"/>
          </a:ln>
        </p:spPr>
      </p:sp>
      <p:sp>
        <p:nvSpPr>
          <p:cNvPr id="62" name="Text 60"/>
          <p:cNvSpPr/>
          <p:nvPr/>
        </p:nvSpPr>
        <p:spPr>
          <a:xfrm>
            <a:off x="7726680" y="2404872"/>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63" name="Shape 61"/>
          <p:cNvSpPr/>
          <p:nvPr/>
        </p:nvSpPr>
        <p:spPr>
          <a:xfrm>
            <a:off x="365760" y="2743200"/>
            <a:ext cx="2560320" cy="365760"/>
          </a:xfrm>
          <a:prstGeom prst="rect">
            <a:avLst/>
          </a:prstGeom>
          <a:solidFill>
            <a:srgbClr val="F1F5F9"/>
          </a:solidFill>
          <a:ln w="6350">
            <a:solidFill>
              <a:srgbClr val="E2E8F0"/>
            </a:solidFill>
            <a:prstDash val="solid"/>
          </a:ln>
        </p:spPr>
      </p:sp>
      <p:sp>
        <p:nvSpPr>
          <p:cNvPr id="64" name="Text 62"/>
          <p:cNvSpPr/>
          <p:nvPr/>
        </p:nvSpPr>
        <p:spPr>
          <a:xfrm>
            <a:off x="411480" y="2798064"/>
            <a:ext cx="2468880" cy="274320"/>
          </a:xfrm>
          <a:prstGeom prst="rect">
            <a:avLst/>
          </a:prstGeom>
          <a:noFill/>
          <a:ln/>
        </p:spPr>
        <p:txBody>
          <a:bodyPr wrap="square" lIns="0" tIns="0" rIns="0" bIns="0" rtlCol="0" anchor="ctr"/>
          <a:lstStyle/>
          <a:p>
            <a:pPr algn="l" indent="0" marL="0">
              <a:buNone/>
            </a:pPr>
            <a:r>
              <a:rPr lang="en-US" sz="850" dirty="0">
                <a:solidFill>
                  <a:srgbClr val="64748B"/>
                </a:solidFill>
              </a:rPr>
              <a:t>Group savings/bill splitting</a:t>
            </a:r>
            <a:endParaRPr lang="en-US" sz="850" dirty="0"/>
          </a:p>
        </p:txBody>
      </p:sp>
      <p:sp>
        <p:nvSpPr>
          <p:cNvPr id="65" name="Shape 63"/>
          <p:cNvSpPr/>
          <p:nvPr/>
        </p:nvSpPr>
        <p:spPr>
          <a:xfrm>
            <a:off x="2926080" y="2743200"/>
            <a:ext cx="1188720" cy="365760"/>
          </a:xfrm>
          <a:prstGeom prst="rect">
            <a:avLst/>
          </a:prstGeom>
          <a:solidFill>
            <a:srgbClr val="EEF2FF"/>
          </a:solidFill>
          <a:ln w="6350">
            <a:solidFill>
              <a:srgbClr val="E2E8F0"/>
            </a:solidFill>
            <a:prstDash val="solid"/>
          </a:ln>
        </p:spPr>
      </p:sp>
      <p:sp>
        <p:nvSpPr>
          <p:cNvPr id="66" name="Text 64"/>
          <p:cNvSpPr/>
          <p:nvPr/>
        </p:nvSpPr>
        <p:spPr>
          <a:xfrm>
            <a:off x="2971800" y="2798064"/>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67" name="Shape 65"/>
          <p:cNvSpPr/>
          <p:nvPr/>
        </p:nvSpPr>
        <p:spPr>
          <a:xfrm>
            <a:off x="4114800" y="2743200"/>
            <a:ext cx="1188720" cy="365760"/>
          </a:xfrm>
          <a:prstGeom prst="rect">
            <a:avLst/>
          </a:prstGeom>
          <a:solidFill>
            <a:srgbClr val="F1F5F9"/>
          </a:solidFill>
          <a:ln w="6350">
            <a:solidFill>
              <a:srgbClr val="E2E8F0"/>
            </a:solidFill>
            <a:prstDash val="solid"/>
          </a:ln>
        </p:spPr>
      </p:sp>
      <p:sp>
        <p:nvSpPr>
          <p:cNvPr id="68" name="Text 66"/>
          <p:cNvSpPr/>
          <p:nvPr/>
        </p:nvSpPr>
        <p:spPr>
          <a:xfrm>
            <a:off x="4160520" y="2798064"/>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69" name="Shape 67"/>
          <p:cNvSpPr/>
          <p:nvPr/>
        </p:nvSpPr>
        <p:spPr>
          <a:xfrm>
            <a:off x="5303520" y="2743200"/>
            <a:ext cx="1188720" cy="365760"/>
          </a:xfrm>
          <a:prstGeom prst="rect">
            <a:avLst/>
          </a:prstGeom>
          <a:solidFill>
            <a:srgbClr val="F1F5F9"/>
          </a:solidFill>
          <a:ln w="6350">
            <a:solidFill>
              <a:srgbClr val="E2E8F0"/>
            </a:solidFill>
            <a:prstDash val="solid"/>
          </a:ln>
        </p:spPr>
      </p:sp>
      <p:sp>
        <p:nvSpPr>
          <p:cNvPr id="70" name="Text 68"/>
          <p:cNvSpPr/>
          <p:nvPr/>
        </p:nvSpPr>
        <p:spPr>
          <a:xfrm>
            <a:off x="5349240" y="2798064"/>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71" name="Shape 69"/>
          <p:cNvSpPr/>
          <p:nvPr/>
        </p:nvSpPr>
        <p:spPr>
          <a:xfrm>
            <a:off x="6492240" y="2743200"/>
            <a:ext cx="1188720" cy="365760"/>
          </a:xfrm>
          <a:prstGeom prst="rect">
            <a:avLst/>
          </a:prstGeom>
          <a:solidFill>
            <a:srgbClr val="F1F5F9"/>
          </a:solidFill>
          <a:ln w="6350">
            <a:solidFill>
              <a:srgbClr val="E2E8F0"/>
            </a:solidFill>
            <a:prstDash val="solid"/>
          </a:ln>
        </p:spPr>
      </p:sp>
      <p:sp>
        <p:nvSpPr>
          <p:cNvPr id="72" name="Text 70"/>
          <p:cNvSpPr/>
          <p:nvPr/>
        </p:nvSpPr>
        <p:spPr>
          <a:xfrm>
            <a:off x="6537960" y="2798064"/>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73" name="Shape 71"/>
          <p:cNvSpPr/>
          <p:nvPr/>
        </p:nvSpPr>
        <p:spPr>
          <a:xfrm>
            <a:off x="7680960" y="2743200"/>
            <a:ext cx="1188720" cy="365760"/>
          </a:xfrm>
          <a:prstGeom prst="rect">
            <a:avLst/>
          </a:prstGeom>
          <a:solidFill>
            <a:srgbClr val="F1F5F9"/>
          </a:solidFill>
          <a:ln w="6350">
            <a:solidFill>
              <a:srgbClr val="E2E8F0"/>
            </a:solidFill>
            <a:prstDash val="solid"/>
          </a:ln>
        </p:spPr>
      </p:sp>
      <p:sp>
        <p:nvSpPr>
          <p:cNvPr id="74" name="Text 72"/>
          <p:cNvSpPr/>
          <p:nvPr/>
        </p:nvSpPr>
        <p:spPr>
          <a:xfrm>
            <a:off x="7726680" y="2798064"/>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75" name="Shape 73"/>
          <p:cNvSpPr/>
          <p:nvPr/>
        </p:nvSpPr>
        <p:spPr>
          <a:xfrm>
            <a:off x="365760" y="3136392"/>
            <a:ext cx="2560320" cy="365760"/>
          </a:xfrm>
          <a:prstGeom prst="rect">
            <a:avLst/>
          </a:prstGeom>
          <a:solidFill>
            <a:srgbClr val="FFFFFF"/>
          </a:solidFill>
          <a:ln w="6350">
            <a:solidFill>
              <a:srgbClr val="E2E8F0"/>
            </a:solidFill>
            <a:prstDash val="solid"/>
          </a:ln>
        </p:spPr>
      </p:sp>
      <p:sp>
        <p:nvSpPr>
          <p:cNvPr id="76" name="Text 74"/>
          <p:cNvSpPr/>
          <p:nvPr/>
        </p:nvSpPr>
        <p:spPr>
          <a:xfrm>
            <a:off x="411480" y="3191256"/>
            <a:ext cx="2468880" cy="274320"/>
          </a:xfrm>
          <a:prstGeom prst="rect">
            <a:avLst/>
          </a:prstGeom>
          <a:noFill/>
          <a:ln/>
        </p:spPr>
        <p:txBody>
          <a:bodyPr wrap="square" lIns="0" tIns="0" rIns="0" bIns="0" rtlCol="0" anchor="ctr"/>
          <a:lstStyle/>
          <a:p>
            <a:pPr algn="l" indent="0" marL="0">
              <a:buNone/>
            </a:pPr>
            <a:r>
              <a:rPr lang="en-US" sz="850" dirty="0">
                <a:solidFill>
                  <a:srgbClr val="64748B"/>
                </a:solidFill>
              </a:rPr>
              <a:t>Rentals / physical delivery</a:t>
            </a:r>
            <a:endParaRPr lang="en-US" sz="850" dirty="0"/>
          </a:p>
        </p:txBody>
      </p:sp>
      <p:sp>
        <p:nvSpPr>
          <p:cNvPr id="77" name="Shape 75"/>
          <p:cNvSpPr/>
          <p:nvPr/>
        </p:nvSpPr>
        <p:spPr>
          <a:xfrm>
            <a:off x="2926080" y="3136392"/>
            <a:ext cx="1188720" cy="365760"/>
          </a:xfrm>
          <a:prstGeom prst="rect">
            <a:avLst/>
          </a:prstGeom>
          <a:solidFill>
            <a:srgbClr val="F5F3FF"/>
          </a:solidFill>
          <a:ln w="6350">
            <a:solidFill>
              <a:srgbClr val="E2E8F0"/>
            </a:solidFill>
            <a:prstDash val="solid"/>
          </a:ln>
        </p:spPr>
      </p:sp>
      <p:sp>
        <p:nvSpPr>
          <p:cNvPr id="78" name="Text 76"/>
          <p:cNvSpPr/>
          <p:nvPr/>
        </p:nvSpPr>
        <p:spPr>
          <a:xfrm>
            <a:off x="2971800" y="3191256"/>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79" name="Shape 77"/>
          <p:cNvSpPr/>
          <p:nvPr/>
        </p:nvSpPr>
        <p:spPr>
          <a:xfrm>
            <a:off x="4114800" y="3136392"/>
            <a:ext cx="1188720" cy="365760"/>
          </a:xfrm>
          <a:prstGeom prst="rect">
            <a:avLst/>
          </a:prstGeom>
          <a:solidFill>
            <a:srgbClr val="FFFFFF"/>
          </a:solidFill>
          <a:ln w="6350">
            <a:solidFill>
              <a:srgbClr val="E2E8F0"/>
            </a:solidFill>
            <a:prstDash val="solid"/>
          </a:ln>
        </p:spPr>
      </p:sp>
      <p:sp>
        <p:nvSpPr>
          <p:cNvPr id="80" name="Text 78"/>
          <p:cNvSpPr/>
          <p:nvPr/>
        </p:nvSpPr>
        <p:spPr>
          <a:xfrm>
            <a:off x="4160520" y="3191256"/>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81" name="Shape 79"/>
          <p:cNvSpPr/>
          <p:nvPr/>
        </p:nvSpPr>
        <p:spPr>
          <a:xfrm>
            <a:off x="5303520" y="3136392"/>
            <a:ext cx="1188720" cy="365760"/>
          </a:xfrm>
          <a:prstGeom prst="rect">
            <a:avLst/>
          </a:prstGeom>
          <a:solidFill>
            <a:srgbClr val="FFFFFF"/>
          </a:solidFill>
          <a:ln w="6350">
            <a:solidFill>
              <a:srgbClr val="E2E8F0"/>
            </a:solidFill>
            <a:prstDash val="solid"/>
          </a:ln>
        </p:spPr>
      </p:sp>
      <p:sp>
        <p:nvSpPr>
          <p:cNvPr id="82" name="Text 80"/>
          <p:cNvSpPr/>
          <p:nvPr/>
        </p:nvSpPr>
        <p:spPr>
          <a:xfrm>
            <a:off x="5349240" y="3191256"/>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83" name="Shape 81"/>
          <p:cNvSpPr/>
          <p:nvPr/>
        </p:nvSpPr>
        <p:spPr>
          <a:xfrm>
            <a:off x="6492240" y="3136392"/>
            <a:ext cx="1188720" cy="365760"/>
          </a:xfrm>
          <a:prstGeom prst="rect">
            <a:avLst/>
          </a:prstGeom>
          <a:solidFill>
            <a:srgbClr val="FFFFFF"/>
          </a:solidFill>
          <a:ln w="6350">
            <a:solidFill>
              <a:srgbClr val="E2E8F0"/>
            </a:solidFill>
            <a:prstDash val="solid"/>
          </a:ln>
        </p:spPr>
      </p:sp>
      <p:sp>
        <p:nvSpPr>
          <p:cNvPr id="84" name="Text 82"/>
          <p:cNvSpPr/>
          <p:nvPr/>
        </p:nvSpPr>
        <p:spPr>
          <a:xfrm>
            <a:off x="6537960" y="3191256"/>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85" name="Shape 83"/>
          <p:cNvSpPr/>
          <p:nvPr/>
        </p:nvSpPr>
        <p:spPr>
          <a:xfrm>
            <a:off x="7680960" y="3136392"/>
            <a:ext cx="1188720" cy="365760"/>
          </a:xfrm>
          <a:prstGeom prst="rect">
            <a:avLst/>
          </a:prstGeom>
          <a:solidFill>
            <a:srgbClr val="FFFFFF"/>
          </a:solidFill>
          <a:ln w="6350">
            <a:solidFill>
              <a:srgbClr val="E2E8F0"/>
            </a:solidFill>
            <a:prstDash val="solid"/>
          </a:ln>
        </p:spPr>
      </p:sp>
      <p:sp>
        <p:nvSpPr>
          <p:cNvPr id="86" name="Text 84"/>
          <p:cNvSpPr/>
          <p:nvPr/>
        </p:nvSpPr>
        <p:spPr>
          <a:xfrm>
            <a:off x="7726680" y="3191256"/>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87" name="Shape 85"/>
          <p:cNvSpPr/>
          <p:nvPr/>
        </p:nvSpPr>
        <p:spPr>
          <a:xfrm>
            <a:off x="365760" y="3529584"/>
            <a:ext cx="2560320" cy="365760"/>
          </a:xfrm>
          <a:prstGeom prst="rect">
            <a:avLst/>
          </a:prstGeom>
          <a:solidFill>
            <a:srgbClr val="F1F5F9"/>
          </a:solidFill>
          <a:ln w="6350">
            <a:solidFill>
              <a:srgbClr val="E2E8F0"/>
            </a:solidFill>
            <a:prstDash val="solid"/>
          </a:ln>
        </p:spPr>
      </p:sp>
      <p:sp>
        <p:nvSpPr>
          <p:cNvPr id="88" name="Text 86"/>
          <p:cNvSpPr/>
          <p:nvPr/>
        </p:nvSpPr>
        <p:spPr>
          <a:xfrm>
            <a:off x="411480" y="3584448"/>
            <a:ext cx="2468880" cy="274320"/>
          </a:xfrm>
          <a:prstGeom prst="rect">
            <a:avLst/>
          </a:prstGeom>
          <a:noFill/>
          <a:ln/>
        </p:spPr>
        <p:txBody>
          <a:bodyPr wrap="square" lIns="0" tIns="0" rIns="0" bIns="0" rtlCol="0" anchor="ctr"/>
          <a:lstStyle/>
          <a:p>
            <a:pPr algn="l" indent="0" marL="0">
              <a:buNone/>
            </a:pPr>
            <a:r>
              <a:rPr lang="en-US" sz="850" dirty="0">
                <a:solidFill>
                  <a:srgbClr val="64748B"/>
                </a:solidFill>
              </a:rPr>
              <a:t>B2B / corporate gifting portal</a:t>
            </a:r>
            <a:endParaRPr lang="en-US" sz="850" dirty="0"/>
          </a:p>
        </p:txBody>
      </p:sp>
      <p:sp>
        <p:nvSpPr>
          <p:cNvPr id="89" name="Shape 87"/>
          <p:cNvSpPr/>
          <p:nvPr/>
        </p:nvSpPr>
        <p:spPr>
          <a:xfrm>
            <a:off x="2926080" y="3529584"/>
            <a:ext cx="1188720" cy="365760"/>
          </a:xfrm>
          <a:prstGeom prst="rect">
            <a:avLst/>
          </a:prstGeom>
          <a:solidFill>
            <a:srgbClr val="EEF2FF"/>
          </a:solidFill>
          <a:ln w="6350">
            <a:solidFill>
              <a:srgbClr val="E2E8F0"/>
            </a:solidFill>
            <a:prstDash val="solid"/>
          </a:ln>
        </p:spPr>
      </p:sp>
      <p:sp>
        <p:nvSpPr>
          <p:cNvPr id="90" name="Text 88"/>
          <p:cNvSpPr/>
          <p:nvPr/>
        </p:nvSpPr>
        <p:spPr>
          <a:xfrm>
            <a:off x="2971800" y="3584448"/>
            <a:ext cx="1097280" cy="274320"/>
          </a:xfrm>
          <a:prstGeom prst="rect">
            <a:avLst/>
          </a:prstGeom>
          <a:noFill/>
          <a:ln/>
        </p:spPr>
        <p:txBody>
          <a:bodyPr wrap="square" lIns="0" tIns="0" rIns="0" bIns="0" rtlCol="0" anchor="ctr"/>
          <a:lstStyle/>
          <a:p>
            <a:pPr algn="ctr" indent="0" marL="0">
              <a:buNone/>
            </a:pPr>
            <a:r>
              <a:rPr lang="en-US" sz="1200" b="1" dirty="0">
                <a:solidFill>
                  <a:srgbClr val="EF4444"/>
                </a:solidFill>
              </a:rPr>
              <a:t>✗</a:t>
            </a:r>
            <a:endParaRPr lang="en-US" sz="1200" dirty="0"/>
          </a:p>
        </p:txBody>
      </p:sp>
      <p:sp>
        <p:nvSpPr>
          <p:cNvPr id="91" name="Shape 89"/>
          <p:cNvSpPr/>
          <p:nvPr/>
        </p:nvSpPr>
        <p:spPr>
          <a:xfrm>
            <a:off x="4114800" y="3529584"/>
            <a:ext cx="1188720" cy="365760"/>
          </a:xfrm>
          <a:prstGeom prst="rect">
            <a:avLst/>
          </a:prstGeom>
          <a:solidFill>
            <a:srgbClr val="F1F5F9"/>
          </a:solidFill>
          <a:ln w="6350">
            <a:solidFill>
              <a:srgbClr val="E2E8F0"/>
            </a:solidFill>
            <a:prstDash val="solid"/>
          </a:ln>
        </p:spPr>
      </p:sp>
      <p:sp>
        <p:nvSpPr>
          <p:cNvPr id="92" name="Text 90"/>
          <p:cNvSpPr/>
          <p:nvPr/>
        </p:nvSpPr>
        <p:spPr>
          <a:xfrm>
            <a:off x="4160520" y="3584448"/>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93" name="Shape 91"/>
          <p:cNvSpPr/>
          <p:nvPr/>
        </p:nvSpPr>
        <p:spPr>
          <a:xfrm>
            <a:off x="5303520" y="3529584"/>
            <a:ext cx="1188720" cy="365760"/>
          </a:xfrm>
          <a:prstGeom prst="rect">
            <a:avLst/>
          </a:prstGeom>
          <a:solidFill>
            <a:srgbClr val="F1F5F9"/>
          </a:solidFill>
          <a:ln w="6350">
            <a:solidFill>
              <a:srgbClr val="E2E8F0"/>
            </a:solidFill>
            <a:prstDash val="solid"/>
          </a:ln>
        </p:spPr>
      </p:sp>
      <p:sp>
        <p:nvSpPr>
          <p:cNvPr id="94" name="Text 92"/>
          <p:cNvSpPr/>
          <p:nvPr/>
        </p:nvSpPr>
        <p:spPr>
          <a:xfrm>
            <a:off x="5349240" y="3584448"/>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95" name="Shape 93"/>
          <p:cNvSpPr/>
          <p:nvPr/>
        </p:nvSpPr>
        <p:spPr>
          <a:xfrm>
            <a:off x="6492240" y="3529584"/>
            <a:ext cx="1188720" cy="365760"/>
          </a:xfrm>
          <a:prstGeom prst="rect">
            <a:avLst/>
          </a:prstGeom>
          <a:solidFill>
            <a:srgbClr val="F1F5F9"/>
          </a:solidFill>
          <a:ln w="6350">
            <a:solidFill>
              <a:srgbClr val="E2E8F0"/>
            </a:solidFill>
            <a:prstDash val="solid"/>
          </a:ln>
        </p:spPr>
      </p:sp>
      <p:sp>
        <p:nvSpPr>
          <p:cNvPr id="96" name="Text 94"/>
          <p:cNvSpPr/>
          <p:nvPr/>
        </p:nvSpPr>
        <p:spPr>
          <a:xfrm>
            <a:off x="6537960" y="3584448"/>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97" name="Shape 95"/>
          <p:cNvSpPr/>
          <p:nvPr/>
        </p:nvSpPr>
        <p:spPr>
          <a:xfrm>
            <a:off x="7680960" y="3529584"/>
            <a:ext cx="1188720" cy="365760"/>
          </a:xfrm>
          <a:prstGeom prst="rect">
            <a:avLst/>
          </a:prstGeom>
          <a:solidFill>
            <a:srgbClr val="F1F5F9"/>
          </a:solidFill>
          <a:ln w="6350">
            <a:solidFill>
              <a:srgbClr val="E2E8F0"/>
            </a:solidFill>
            <a:prstDash val="solid"/>
          </a:ln>
        </p:spPr>
      </p:sp>
      <p:sp>
        <p:nvSpPr>
          <p:cNvPr id="98" name="Text 96"/>
          <p:cNvSpPr/>
          <p:nvPr/>
        </p:nvSpPr>
        <p:spPr>
          <a:xfrm>
            <a:off x="7726680" y="3584448"/>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99" name="Shape 97"/>
          <p:cNvSpPr/>
          <p:nvPr/>
        </p:nvSpPr>
        <p:spPr>
          <a:xfrm>
            <a:off x="365760" y="3922776"/>
            <a:ext cx="2560320" cy="365760"/>
          </a:xfrm>
          <a:prstGeom prst="rect">
            <a:avLst/>
          </a:prstGeom>
          <a:solidFill>
            <a:srgbClr val="FFFFFF"/>
          </a:solidFill>
          <a:ln w="6350">
            <a:solidFill>
              <a:srgbClr val="E2E8F0"/>
            </a:solidFill>
            <a:prstDash val="solid"/>
          </a:ln>
        </p:spPr>
      </p:sp>
      <p:sp>
        <p:nvSpPr>
          <p:cNvPr id="100" name="Text 98"/>
          <p:cNvSpPr/>
          <p:nvPr/>
        </p:nvSpPr>
        <p:spPr>
          <a:xfrm>
            <a:off x="411480" y="3977640"/>
            <a:ext cx="2468880" cy="274320"/>
          </a:xfrm>
          <a:prstGeom prst="rect">
            <a:avLst/>
          </a:prstGeom>
          <a:noFill/>
          <a:ln/>
        </p:spPr>
        <p:txBody>
          <a:bodyPr wrap="square" lIns="0" tIns="0" rIns="0" bIns="0" rtlCol="0" anchor="ctr"/>
          <a:lstStyle/>
          <a:p>
            <a:pPr algn="l" indent="0" marL="0">
              <a:buNone/>
            </a:pPr>
            <a:r>
              <a:rPr lang="en-US" sz="850" dirty="0">
                <a:solidFill>
                  <a:srgbClr val="64748B"/>
                </a:solidFill>
              </a:rPr>
              <a:t>Profitable / bootstrapped</a:t>
            </a:r>
            <a:endParaRPr lang="en-US" sz="850" dirty="0"/>
          </a:p>
        </p:txBody>
      </p:sp>
      <p:sp>
        <p:nvSpPr>
          <p:cNvPr id="101" name="Shape 99"/>
          <p:cNvSpPr/>
          <p:nvPr/>
        </p:nvSpPr>
        <p:spPr>
          <a:xfrm>
            <a:off x="2926080" y="3922776"/>
            <a:ext cx="1188720" cy="365760"/>
          </a:xfrm>
          <a:prstGeom prst="rect">
            <a:avLst/>
          </a:prstGeom>
          <a:solidFill>
            <a:srgbClr val="F5F3FF"/>
          </a:solidFill>
          <a:ln w="6350">
            <a:solidFill>
              <a:srgbClr val="E2E8F0"/>
            </a:solidFill>
            <a:prstDash val="solid"/>
          </a:ln>
        </p:spPr>
      </p:sp>
      <p:sp>
        <p:nvSpPr>
          <p:cNvPr id="102" name="Text 100"/>
          <p:cNvSpPr/>
          <p:nvPr/>
        </p:nvSpPr>
        <p:spPr>
          <a:xfrm>
            <a:off x="2971800" y="3977640"/>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103" name="Shape 101"/>
          <p:cNvSpPr/>
          <p:nvPr/>
        </p:nvSpPr>
        <p:spPr>
          <a:xfrm>
            <a:off x="4114800" y="3922776"/>
            <a:ext cx="1188720" cy="365760"/>
          </a:xfrm>
          <a:prstGeom prst="rect">
            <a:avLst/>
          </a:prstGeom>
          <a:solidFill>
            <a:srgbClr val="FFFFFF"/>
          </a:solidFill>
          <a:ln w="6350">
            <a:solidFill>
              <a:srgbClr val="E2E8F0"/>
            </a:solidFill>
            <a:prstDash val="solid"/>
          </a:ln>
        </p:spPr>
      </p:sp>
      <p:sp>
        <p:nvSpPr>
          <p:cNvPr id="104" name="Text 102"/>
          <p:cNvSpPr/>
          <p:nvPr/>
        </p:nvSpPr>
        <p:spPr>
          <a:xfrm>
            <a:off x="4160520" y="3977640"/>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105" name="Shape 103"/>
          <p:cNvSpPr/>
          <p:nvPr/>
        </p:nvSpPr>
        <p:spPr>
          <a:xfrm>
            <a:off x="5303520" y="3922776"/>
            <a:ext cx="1188720" cy="365760"/>
          </a:xfrm>
          <a:prstGeom prst="rect">
            <a:avLst/>
          </a:prstGeom>
          <a:solidFill>
            <a:srgbClr val="FFFFFF"/>
          </a:solidFill>
          <a:ln w="6350">
            <a:solidFill>
              <a:srgbClr val="E2E8F0"/>
            </a:solidFill>
            <a:prstDash val="solid"/>
          </a:ln>
        </p:spPr>
      </p:sp>
      <p:sp>
        <p:nvSpPr>
          <p:cNvPr id="106" name="Text 104"/>
          <p:cNvSpPr/>
          <p:nvPr/>
        </p:nvSpPr>
        <p:spPr>
          <a:xfrm>
            <a:off x="5349240" y="3977640"/>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107" name="Shape 105"/>
          <p:cNvSpPr/>
          <p:nvPr/>
        </p:nvSpPr>
        <p:spPr>
          <a:xfrm>
            <a:off x="6492240" y="3922776"/>
            <a:ext cx="1188720" cy="365760"/>
          </a:xfrm>
          <a:prstGeom prst="rect">
            <a:avLst/>
          </a:prstGeom>
          <a:solidFill>
            <a:srgbClr val="FFFFFF"/>
          </a:solidFill>
          <a:ln w="6350">
            <a:solidFill>
              <a:srgbClr val="E2E8F0"/>
            </a:solidFill>
            <a:prstDash val="solid"/>
          </a:ln>
        </p:spPr>
      </p:sp>
      <p:sp>
        <p:nvSpPr>
          <p:cNvPr id="108" name="Text 106"/>
          <p:cNvSpPr/>
          <p:nvPr/>
        </p:nvSpPr>
        <p:spPr>
          <a:xfrm>
            <a:off x="6537960" y="3977640"/>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109" name="Shape 107"/>
          <p:cNvSpPr/>
          <p:nvPr/>
        </p:nvSpPr>
        <p:spPr>
          <a:xfrm>
            <a:off x="7680960" y="3922776"/>
            <a:ext cx="1188720" cy="365760"/>
          </a:xfrm>
          <a:prstGeom prst="rect">
            <a:avLst/>
          </a:prstGeom>
          <a:solidFill>
            <a:srgbClr val="FFFFFF"/>
          </a:solidFill>
          <a:ln w="6350">
            <a:solidFill>
              <a:srgbClr val="E2E8F0"/>
            </a:solidFill>
            <a:prstDash val="solid"/>
          </a:ln>
        </p:spPr>
      </p:sp>
      <p:sp>
        <p:nvSpPr>
          <p:cNvPr id="110" name="Text 108"/>
          <p:cNvSpPr/>
          <p:nvPr/>
        </p:nvSpPr>
        <p:spPr>
          <a:xfrm>
            <a:off x="7726680" y="3977640"/>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111" name="Shape 109"/>
          <p:cNvSpPr/>
          <p:nvPr/>
        </p:nvSpPr>
        <p:spPr>
          <a:xfrm>
            <a:off x="365760" y="4315968"/>
            <a:ext cx="2560320" cy="365760"/>
          </a:xfrm>
          <a:prstGeom prst="rect">
            <a:avLst/>
          </a:prstGeom>
          <a:solidFill>
            <a:srgbClr val="F1F5F9"/>
          </a:solidFill>
          <a:ln w="6350">
            <a:solidFill>
              <a:srgbClr val="E2E8F0"/>
            </a:solidFill>
            <a:prstDash val="solid"/>
          </a:ln>
        </p:spPr>
      </p:sp>
      <p:sp>
        <p:nvSpPr>
          <p:cNvPr id="112" name="Text 110"/>
          <p:cNvSpPr/>
          <p:nvPr/>
        </p:nvSpPr>
        <p:spPr>
          <a:xfrm>
            <a:off x="411480" y="4370832"/>
            <a:ext cx="2468880" cy="274320"/>
          </a:xfrm>
          <a:prstGeom prst="rect">
            <a:avLst/>
          </a:prstGeom>
          <a:noFill/>
          <a:ln/>
        </p:spPr>
        <p:txBody>
          <a:bodyPr wrap="square" lIns="0" tIns="0" rIns="0" bIns="0" rtlCol="0" anchor="ctr"/>
          <a:lstStyle/>
          <a:p>
            <a:pPr algn="l" indent="0" marL="0">
              <a:buNone/>
            </a:pPr>
            <a:r>
              <a:rPr lang="en-US" sz="850" dirty="0">
                <a:solidFill>
                  <a:srgbClr val="64748B"/>
                </a:solidFill>
              </a:rPr>
              <a:t>India-local accent (tier-2/3)</a:t>
            </a:r>
            <a:endParaRPr lang="en-US" sz="850" dirty="0"/>
          </a:p>
        </p:txBody>
      </p:sp>
      <p:sp>
        <p:nvSpPr>
          <p:cNvPr id="113" name="Shape 111"/>
          <p:cNvSpPr/>
          <p:nvPr/>
        </p:nvSpPr>
        <p:spPr>
          <a:xfrm>
            <a:off x="2926080" y="4315968"/>
            <a:ext cx="1188720" cy="365760"/>
          </a:xfrm>
          <a:prstGeom prst="rect">
            <a:avLst/>
          </a:prstGeom>
          <a:solidFill>
            <a:srgbClr val="EEF2FF"/>
          </a:solidFill>
          <a:ln w="6350">
            <a:solidFill>
              <a:srgbClr val="E2E8F0"/>
            </a:solidFill>
            <a:prstDash val="solid"/>
          </a:ln>
        </p:spPr>
      </p:sp>
      <p:sp>
        <p:nvSpPr>
          <p:cNvPr id="114" name="Text 112"/>
          <p:cNvSpPr/>
          <p:nvPr/>
        </p:nvSpPr>
        <p:spPr>
          <a:xfrm>
            <a:off x="2971800" y="4370832"/>
            <a:ext cx="1097280" cy="274320"/>
          </a:xfrm>
          <a:prstGeom prst="rect">
            <a:avLst/>
          </a:prstGeom>
          <a:noFill/>
          <a:ln/>
        </p:spPr>
        <p:txBody>
          <a:bodyPr wrap="square" lIns="0" tIns="0" rIns="0" bIns="0" rtlCol="0" anchor="ctr"/>
          <a:lstStyle/>
          <a:p>
            <a:pPr algn="ctr" indent="0" marL="0">
              <a:buNone/>
            </a:pPr>
            <a:r>
              <a:rPr lang="en-US" sz="1200" b="1" dirty="0">
                <a:solidFill>
                  <a:srgbClr val="10B981"/>
                </a:solidFill>
              </a:rPr>
              <a:t>✓</a:t>
            </a:r>
            <a:endParaRPr lang="en-US" sz="1200" dirty="0"/>
          </a:p>
        </p:txBody>
      </p:sp>
      <p:sp>
        <p:nvSpPr>
          <p:cNvPr id="115" name="Shape 113"/>
          <p:cNvSpPr/>
          <p:nvPr/>
        </p:nvSpPr>
        <p:spPr>
          <a:xfrm>
            <a:off x="4114800" y="4315968"/>
            <a:ext cx="1188720" cy="365760"/>
          </a:xfrm>
          <a:prstGeom prst="rect">
            <a:avLst/>
          </a:prstGeom>
          <a:solidFill>
            <a:srgbClr val="F1F5F9"/>
          </a:solidFill>
          <a:ln w="6350">
            <a:solidFill>
              <a:srgbClr val="E2E8F0"/>
            </a:solidFill>
            <a:prstDash val="solid"/>
          </a:ln>
        </p:spPr>
      </p:sp>
      <p:sp>
        <p:nvSpPr>
          <p:cNvPr id="116" name="Text 114"/>
          <p:cNvSpPr/>
          <p:nvPr/>
        </p:nvSpPr>
        <p:spPr>
          <a:xfrm>
            <a:off x="4160520" y="4370832"/>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117" name="Shape 115"/>
          <p:cNvSpPr/>
          <p:nvPr/>
        </p:nvSpPr>
        <p:spPr>
          <a:xfrm>
            <a:off x="5303520" y="4315968"/>
            <a:ext cx="1188720" cy="365760"/>
          </a:xfrm>
          <a:prstGeom prst="rect">
            <a:avLst/>
          </a:prstGeom>
          <a:solidFill>
            <a:srgbClr val="F1F5F9"/>
          </a:solidFill>
          <a:ln w="6350">
            <a:solidFill>
              <a:srgbClr val="E2E8F0"/>
            </a:solidFill>
            <a:prstDash val="solid"/>
          </a:ln>
        </p:spPr>
      </p:sp>
      <p:sp>
        <p:nvSpPr>
          <p:cNvPr id="118" name="Text 116"/>
          <p:cNvSpPr/>
          <p:nvPr/>
        </p:nvSpPr>
        <p:spPr>
          <a:xfrm>
            <a:off x="5349240" y="4370832"/>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119" name="Shape 117"/>
          <p:cNvSpPr/>
          <p:nvPr/>
        </p:nvSpPr>
        <p:spPr>
          <a:xfrm>
            <a:off x="6492240" y="4315968"/>
            <a:ext cx="1188720" cy="365760"/>
          </a:xfrm>
          <a:prstGeom prst="rect">
            <a:avLst/>
          </a:prstGeom>
          <a:solidFill>
            <a:srgbClr val="F1F5F9"/>
          </a:solidFill>
          <a:ln w="6350">
            <a:solidFill>
              <a:srgbClr val="E2E8F0"/>
            </a:solidFill>
            <a:prstDash val="solid"/>
          </a:ln>
        </p:spPr>
      </p:sp>
      <p:sp>
        <p:nvSpPr>
          <p:cNvPr id="120" name="Text 118"/>
          <p:cNvSpPr/>
          <p:nvPr/>
        </p:nvSpPr>
        <p:spPr>
          <a:xfrm>
            <a:off x="6537960" y="4370832"/>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
        <p:nvSpPr>
          <p:cNvPr id="121" name="Shape 119"/>
          <p:cNvSpPr/>
          <p:nvPr/>
        </p:nvSpPr>
        <p:spPr>
          <a:xfrm>
            <a:off x="7680960" y="4315968"/>
            <a:ext cx="1188720" cy="365760"/>
          </a:xfrm>
          <a:prstGeom prst="rect">
            <a:avLst/>
          </a:prstGeom>
          <a:solidFill>
            <a:srgbClr val="F1F5F9"/>
          </a:solidFill>
          <a:ln w="6350">
            <a:solidFill>
              <a:srgbClr val="E2E8F0"/>
            </a:solidFill>
            <a:prstDash val="solid"/>
          </a:ln>
        </p:spPr>
      </p:sp>
      <p:sp>
        <p:nvSpPr>
          <p:cNvPr id="122" name="Text 120"/>
          <p:cNvSpPr/>
          <p:nvPr/>
        </p:nvSpPr>
        <p:spPr>
          <a:xfrm>
            <a:off x="7726680" y="4370832"/>
            <a:ext cx="1097280" cy="274320"/>
          </a:xfrm>
          <a:prstGeom prst="rect">
            <a:avLst/>
          </a:prstGeom>
          <a:noFill/>
          <a:ln/>
        </p:spPr>
        <p:txBody>
          <a:bodyPr wrap="square" lIns="0" tIns="0" rIns="0" bIns="0" rtlCol="0" anchor="ctr"/>
          <a:lstStyle/>
          <a:p>
            <a:pPr algn="ctr" indent="0" marL="0">
              <a:buNone/>
            </a:pPr>
            <a:r>
              <a:rPr lang="en-US" sz="1200" b="1" dirty="0">
                <a:solidFill>
                  <a:srgbClr val="64748B"/>
                </a:solidFill>
              </a:rPr>
              <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371600" y="3200400"/>
            <a:ext cx="4572000" cy="4572000"/>
          </a:xfrm>
          <a:prstGeom prst="ellipse">
            <a:avLst/>
          </a:prstGeom>
          <a:solidFill>
            <a:srgbClr val="10B981">
              <a:alpha val="10000"/>
            </a:srgbClr>
          </a:solidFill>
          <a:ln w="12700">
            <a:solidFill>
              <a:srgbClr val="10B981"/>
            </a:solidFill>
            <a:prstDash val="solid"/>
          </a:ln>
        </p:spPr>
      </p:sp>
      <p:sp>
        <p:nvSpPr>
          <p:cNvPr id="3" name="Text 1"/>
          <p:cNvSpPr/>
          <p:nvPr/>
        </p:nvSpPr>
        <p:spPr>
          <a:xfrm>
            <a:off x="548640" y="365760"/>
            <a:ext cx="8229600" cy="6400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The Bottom Line</a:t>
            </a:r>
            <a:endParaRPr lang="en-US" sz="3200" dirty="0"/>
          </a:p>
        </p:txBody>
      </p:sp>
      <p:sp>
        <p:nvSpPr>
          <p:cNvPr id="4" name="Shape 2"/>
          <p:cNvSpPr/>
          <p:nvPr/>
        </p:nvSpPr>
        <p:spPr>
          <a:xfrm>
            <a:off x="548640" y="1188720"/>
            <a:ext cx="457200" cy="384048"/>
          </a:xfrm>
          <a:prstGeom prst="rect">
            <a:avLst/>
          </a:prstGeom>
          <a:solidFill>
            <a:srgbClr val="EF4444">
              <a:alpha val="20000"/>
            </a:srgbClr>
          </a:solidFill>
          <a:ln w="12700">
            <a:solidFill>
              <a:srgbClr val="EF4444"/>
            </a:solidFill>
            <a:prstDash val="solid"/>
          </a:ln>
        </p:spPr>
      </p:sp>
      <p:sp>
        <p:nvSpPr>
          <p:cNvPr id="5" name="Text 3"/>
          <p:cNvSpPr/>
          <p:nvPr/>
        </p:nvSpPr>
        <p:spPr>
          <a:xfrm>
            <a:off x="548640" y="1207008"/>
            <a:ext cx="457200" cy="347472"/>
          </a:xfrm>
          <a:prstGeom prst="rect">
            <a:avLst/>
          </a:prstGeom>
          <a:noFill/>
          <a:ln/>
        </p:spPr>
        <p:txBody>
          <a:bodyPr wrap="square" lIns="0" tIns="0" rIns="0" bIns="0" rtlCol="0" anchor="ctr"/>
          <a:lstStyle/>
          <a:p>
            <a:pPr algn="ctr" indent="0" marL="0">
              <a:buNone/>
            </a:pPr>
            <a:r>
              <a:rPr lang="en-US" sz="900" b="1" dirty="0">
                <a:solidFill>
                  <a:srgbClr val="EF4444"/>
                </a:solidFill>
              </a:rPr>
              <a:t>P0</a:t>
            </a:r>
            <a:endParaRPr lang="en-US" sz="900" dirty="0"/>
          </a:p>
        </p:txBody>
      </p:sp>
      <p:sp>
        <p:nvSpPr>
          <p:cNvPr id="6" name="Text 4"/>
          <p:cNvSpPr/>
          <p:nvPr/>
        </p:nvSpPr>
        <p:spPr>
          <a:xfrm>
            <a:off x="1143000" y="1234440"/>
            <a:ext cx="7498080" cy="320040"/>
          </a:xfrm>
          <a:prstGeom prst="rect">
            <a:avLst/>
          </a:prstGeom>
          <a:noFill/>
          <a:ln/>
        </p:spPr>
        <p:txBody>
          <a:bodyPr wrap="square" lIns="0" tIns="0" rIns="0" bIns="0" rtlCol="0" anchor="ctr"/>
          <a:lstStyle/>
          <a:p>
            <a:pPr indent="0" marL="0">
              <a:buNone/>
            </a:pPr>
            <a:r>
              <a:rPr lang="en-US" sz="1150" dirty="0">
                <a:solidFill>
                  <a:srgbClr val="FFFFFF"/>
                </a:solidFill>
              </a:rPr>
              <a:t>Fix admin trust — the group-sharing moat is only as strong as its weakest group</a:t>
            </a:r>
            <a:endParaRPr lang="en-US" sz="1150" dirty="0"/>
          </a:p>
        </p:txBody>
      </p:sp>
      <p:sp>
        <p:nvSpPr>
          <p:cNvPr id="7" name="Shape 5"/>
          <p:cNvSpPr/>
          <p:nvPr/>
        </p:nvSpPr>
        <p:spPr>
          <a:xfrm>
            <a:off x="548640" y="1856232"/>
            <a:ext cx="457200" cy="384048"/>
          </a:xfrm>
          <a:prstGeom prst="rect">
            <a:avLst/>
          </a:prstGeom>
          <a:solidFill>
            <a:srgbClr val="F59E0B">
              <a:alpha val="20000"/>
            </a:srgbClr>
          </a:solidFill>
          <a:ln w="12700">
            <a:solidFill>
              <a:srgbClr val="F59E0B"/>
            </a:solidFill>
            <a:prstDash val="solid"/>
          </a:ln>
        </p:spPr>
      </p:sp>
      <p:sp>
        <p:nvSpPr>
          <p:cNvPr id="8" name="Text 6"/>
          <p:cNvSpPr/>
          <p:nvPr/>
        </p:nvSpPr>
        <p:spPr>
          <a:xfrm>
            <a:off x="548640" y="1874520"/>
            <a:ext cx="457200" cy="347472"/>
          </a:xfrm>
          <a:prstGeom prst="rect">
            <a:avLst/>
          </a:prstGeom>
          <a:noFill/>
          <a:ln/>
        </p:spPr>
        <p:txBody>
          <a:bodyPr wrap="square" lIns="0" tIns="0" rIns="0" bIns="0" rtlCol="0" anchor="ctr"/>
          <a:lstStyle/>
          <a:p>
            <a:pPr algn="ctr" indent="0" marL="0">
              <a:buNone/>
            </a:pPr>
            <a:r>
              <a:rPr lang="en-US" sz="900" b="1" dirty="0">
                <a:solidFill>
                  <a:srgbClr val="F59E0B"/>
                </a:solidFill>
              </a:rPr>
              <a:t>P1</a:t>
            </a:r>
            <a:endParaRPr lang="en-US" sz="900" dirty="0"/>
          </a:p>
        </p:txBody>
      </p:sp>
      <p:sp>
        <p:nvSpPr>
          <p:cNvPr id="9" name="Text 7"/>
          <p:cNvSpPr/>
          <p:nvPr/>
        </p:nvSpPr>
        <p:spPr>
          <a:xfrm>
            <a:off x="1143000" y="1901952"/>
            <a:ext cx="7498080" cy="320040"/>
          </a:xfrm>
          <a:prstGeom prst="rect">
            <a:avLst/>
          </a:prstGeom>
          <a:noFill/>
          <a:ln/>
        </p:spPr>
        <p:txBody>
          <a:bodyPr wrap="square" lIns="0" tIns="0" rIns="0" bIns="0" rtlCol="0" anchor="ctr"/>
          <a:lstStyle/>
          <a:p>
            <a:pPr indent="0" marL="0">
              <a:buNone/>
            </a:pPr>
            <a:r>
              <a:rPr lang="en-US" sz="1150" dirty="0">
                <a:solidFill>
                  <a:srgbClr val="FFFFFF"/>
                </a:solidFill>
              </a:rPr>
              <a:t>Reframe onboarding around savings, not delivery — activate the right ICP first</a:t>
            </a:r>
            <a:endParaRPr lang="en-US" sz="1150" dirty="0"/>
          </a:p>
        </p:txBody>
      </p:sp>
      <p:sp>
        <p:nvSpPr>
          <p:cNvPr id="10" name="Shape 8"/>
          <p:cNvSpPr/>
          <p:nvPr/>
        </p:nvSpPr>
        <p:spPr>
          <a:xfrm>
            <a:off x="548640" y="2523744"/>
            <a:ext cx="457200" cy="384048"/>
          </a:xfrm>
          <a:prstGeom prst="rect">
            <a:avLst/>
          </a:prstGeom>
          <a:solidFill>
            <a:srgbClr val="4F46E5">
              <a:alpha val="20000"/>
            </a:srgbClr>
          </a:solidFill>
          <a:ln w="12700">
            <a:solidFill>
              <a:srgbClr val="4F46E5"/>
            </a:solidFill>
            <a:prstDash val="solid"/>
          </a:ln>
        </p:spPr>
      </p:sp>
      <p:sp>
        <p:nvSpPr>
          <p:cNvPr id="11" name="Text 9"/>
          <p:cNvSpPr/>
          <p:nvPr/>
        </p:nvSpPr>
        <p:spPr>
          <a:xfrm>
            <a:off x="548640" y="2542032"/>
            <a:ext cx="457200" cy="347472"/>
          </a:xfrm>
          <a:prstGeom prst="rect">
            <a:avLst/>
          </a:prstGeom>
          <a:noFill/>
          <a:ln/>
        </p:spPr>
        <p:txBody>
          <a:bodyPr wrap="square" lIns="0" tIns="0" rIns="0" bIns="0" rtlCol="0" anchor="ctr"/>
          <a:lstStyle/>
          <a:p>
            <a:pPr algn="ctr" indent="0" marL="0">
              <a:buNone/>
            </a:pPr>
            <a:r>
              <a:rPr lang="en-US" sz="900" b="1" dirty="0">
                <a:solidFill>
                  <a:srgbClr val="4F46E5"/>
                </a:solidFill>
              </a:rPr>
              <a:t>P1</a:t>
            </a:r>
            <a:endParaRPr lang="en-US" sz="900" dirty="0"/>
          </a:p>
        </p:txBody>
      </p:sp>
      <p:sp>
        <p:nvSpPr>
          <p:cNvPr id="12" name="Text 10"/>
          <p:cNvSpPr/>
          <p:nvPr/>
        </p:nvSpPr>
        <p:spPr>
          <a:xfrm>
            <a:off x="1143000" y="2569464"/>
            <a:ext cx="7498080" cy="320040"/>
          </a:xfrm>
          <a:prstGeom prst="rect">
            <a:avLst/>
          </a:prstGeom>
          <a:noFill/>
          <a:ln/>
        </p:spPr>
        <p:txBody>
          <a:bodyPr wrap="square" lIns="0" tIns="0" rIns="0" bIns="0" rtlCol="0" anchor="ctr"/>
          <a:lstStyle/>
          <a:p>
            <a:pPr indent="0" marL="0">
              <a:buNone/>
            </a:pPr>
            <a:r>
              <a:rPr lang="en-US" sz="1150" dirty="0">
                <a:solidFill>
                  <a:srgbClr val="FFFFFF"/>
                </a:solidFill>
              </a:rPr>
              <a:t>Scope rentals honestly — a ghost feature costs more than no feature</a:t>
            </a:r>
            <a:endParaRPr lang="en-US" sz="1150" dirty="0"/>
          </a:p>
        </p:txBody>
      </p:sp>
      <p:sp>
        <p:nvSpPr>
          <p:cNvPr id="13" name="Shape 11"/>
          <p:cNvSpPr/>
          <p:nvPr/>
        </p:nvSpPr>
        <p:spPr>
          <a:xfrm>
            <a:off x="548640" y="3191256"/>
            <a:ext cx="457200" cy="384048"/>
          </a:xfrm>
          <a:prstGeom prst="rect">
            <a:avLst/>
          </a:prstGeom>
          <a:solidFill>
            <a:srgbClr val="10B981">
              <a:alpha val="20000"/>
            </a:srgbClr>
          </a:solidFill>
          <a:ln w="12700">
            <a:solidFill>
              <a:srgbClr val="10B981"/>
            </a:solidFill>
            <a:prstDash val="solid"/>
          </a:ln>
        </p:spPr>
      </p:sp>
      <p:sp>
        <p:nvSpPr>
          <p:cNvPr id="14" name="Text 12"/>
          <p:cNvSpPr/>
          <p:nvPr/>
        </p:nvSpPr>
        <p:spPr>
          <a:xfrm>
            <a:off x="548640" y="3209544"/>
            <a:ext cx="457200" cy="347472"/>
          </a:xfrm>
          <a:prstGeom prst="rect">
            <a:avLst/>
          </a:prstGeom>
          <a:noFill/>
          <a:ln/>
        </p:spPr>
        <p:txBody>
          <a:bodyPr wrap="square" lIns="0" tIns="0" rIns="0" bIns="0" rtlCol="0" anchor="ctr"/>
          <a:lstStyle/>
          <a:p>
            <a:pPr algn="ctr" indent="0" marL="0">
              <a:buNone/>
            </a:pPr>
            <a:r>
              <a:rPr lang="en-US" sz="900" b="1" dirty="0">
                <a:solidFill>
                  <a:srgbClr val="10B981"/>
                </a:solidFill>
              </a:rPr>
              <a:t>P1</a:t>
            </a:r>
            <a:endParaRPr lang="en-US" sz="900" dirty="0"/>
          </a:p>
        </p:txBody>
      </p:sp>
      <p:sp>
        <p:nvSpPr>
          <p:cNvPr id="15" name="Text 13"/>
          <p:cNvSpPr/>
          <p:nvPr/>
        </p:nvSpPr>
        <p:spPr>
          <a:xfrm>
            <a:off x="1143000" y="3236976"/>
            <a:ext cx="7498080" cy="320040"/>
          </a:xfrm>
          <a:prstGeom prst="rect">
            <a:avLst/>
          </a:prstGeom>
          <a:noFill/>
          <a:ln/>
        </p:spPr>
        <p:txBody>
          <a:bodyPr wrap="square" lIns="0" tIns="0" rIns="0" bIns="0" rtlCol="0" anchor="ctr"/>
          <a:lstStyle/>
          <a:p>
            <a:pPr indent="0" marL="0">
              <a:buNone/>
            </a:pPr>
            <a:r>
              <a:rPr lang="en-US" sz="1150" dirty="0">
                <a:solidFill>
                  <a:srgbClr val="FFFFFF"/>
                </a:solidFill>
              </a:rPr>
              <a:t>Launch B2B gifting — Subspace has the cost moat; Woohoo has the corporate market</a:t>
            </a:r>
            <a:endParaRPr lang="en-US" sz="1150" dirty="0"/>
          </a:p>
        </p:txBody>
      </p:sp>
      <p:sp>
        <p:nvSpPr>
          <p:cNvPr id="16" name="Shape 14"/>
          <p:cNvSpPr/>
          <p:nvPr/>
        </p:nvSpPr>
        <p:spPr>
          <a:xfrm>
            <a:off x="548640" y="3858768"/>
            <a:ext cx="457200" cy="384048"/>
          </a:xfrm>
          <a:prstGeom prst="rect">
            <a:avLst/>
          </a:prstGeom>
          <a:solidFill>
            <a:srgbClr val="7C3AED">
              <a:alpha val="20000"/>
            </a:srgbClr>
          </a:solidFill>
          <a:ln w="12700">
            <a:solidFill>
              <a:srgbClr val="7C3AED"/>
            </a:solidFill>
            <a:prstDash val="solid"/>
          </a:ln>
        </p:spPr>
      </p:sp>
      <p:sp>
        <p:nvSpPr>
          <p:cNvPr id="17" name="Text 15"/>
          <p:cNvSpPr/>
          <p:nvPr/>
        </p:nvSpPr>
        <p:spPr>
          <a:xfrm>
            <a:off x="548640" y="3877056"/>
            <a:ext cx="457200" cy="347472"/>
          </a:xfrm>
          <a:prstGeom prst="rect">
            <a:avLst/>
          </a:prstGeom>
          <a:noFill/>
          <a:ln/>
        </p:spPr>
        <p:txBody>
          <a:bodyPr wrap="square" lIns="0" tIns="0" rIns="0" bIns="0" rtlCol="0" anchor="ctr"/>
          <a:lstStyle/>
          <a:p>
            <a:pPr algn="ctr" indent="0" marL="0">
              <a:buNone/>
            </a:pPr>
            <a:r>
              <a:rPr lang="en-US" sz="900" b="1" dirty="0">
                <a:solidFill>
                  <a:srgbClr val="7C3AED"/>
                </a:solidFill>
              </a:rPr>
              <a:t>P2</a:t>
            </a:r>
            <a:endParaRPr lang="en-US" sz="900" dirty="0"/>
          </a:p>
        </p:txBody>
      </p:sp>
      <p:sp>
        <p:nvSpPr>
          <p:cNvPr id="18" name="Text 16"/>
          <p:cNvSpPr/>
          <p:nvPr/>
        </p:nvSpPr>
        <p:spPr>
          <a:xfrm>
            <a:off x="1143000" y="3904488"/>
            <a:ext cx="7498080" cy="320040"/>
          </a:xfrm>
          <a:prstGeom prst="rect">
            <a:avLst/>
          </a:prstGeom>
          <a:noFill/>
          <a:ln/>
        </p:spPr>
        <p:txBody>
          <a:bodyPr wrap="square" lIns="0" tIns="0" rIns="0" bIns="0" rtlCol="0" anchor="ctr"/>
          <a:lstStyle/>
          <a:p>
            <a:pPr indent="0" marL="0">
              <a:buNone/>
            </a:pPr>
            <a:r>
              <a:rPr lang="en-US" sz="1150" dirty="0">
                <a:solidFill>
                  <a:srgbClr val="FFFFFF"/>
                </a:solidFill>
              </a:rPr>
              <a:t>Bet on ONDC + hyperlocal — that's the 3-year moat no one else is building</a:t>
            </a:r>
            <a:endParaRPr lang="en-US" sz="1150" dirty="0"/>
          </a:p>
        </p:txBody>
      </p:sp>
      <p:sp>
        <p:nvSpPr>
          <p:cNvPr id="19" name="Shape 17"/>
          <p:cNvSpPr/>
          <p:nvPr/>
        </p:nvSpPr>
        <p:spPr>
          <a:xfrm>
            <a:off x="548640" y="4617720"/>
            <a:ext cx="3657600" cy="0"/>
          </a:xfrm>
          <a:prstGeom prst="line">
            <a:avLst/>
          </a:prstGeom>
          <a:noFill/>
          <a:ln w="6350">
            <a:solidFill>
              <a:srgbClr val="64748B"/>
            </a:solidFill>
            <a:prstDash val="solid"/>
          </a:ln>
        </p:spPr>
      </p:sp>
      <p:sp>
        <p:nvSpPr>
          <p:cNvPr id="20" name="Text 18"/>
          <p:cNvSpPr/>
          <p:nvPr/>
        </p:nvSpPr>
        <p:spPr>
          <a:xfrm>
            <a:off x="548640" y="4736592"/>
            <a:ext cx="8229600" cy="274320"/>
          </a:xfrm>
          <a:prstGeom prst="rect">
            <a:avLst/>
          </a:prstGeom>
          <a:noFill/>
          <a:ln/>
        </p:spPr>
        <p:txBody>
          <a:bodyPr wrap="square" rtlCol="0" anchor="ctr"/>
          <a:lstStyle/>
          <a:p>
            <a:pPr indent="0" marL="0">
              <a:buNone/>
            </a:pPr>
            <a:r>
              <a:rPr lang="en-US" sz="1000" i="1" dirty="0">
                <a:solidFill>
                  <a:srgbClr val="10B981"/>
                </a:solidFill>
              </a:rPr>
              <a:t>Subspace has real moats. The product needs to stop hiding them.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Subspace.money — Product Teardown</dc:title>
  <dc:subject>PptxGenJS Presentation</dc:subject>
  <dc:creator>Product Intern Candidate</dc:creator>
  <cp:lastModifiedBy>Product Intern Candidate</cp:lastModifiedBy>
  <cp:revision>1</cp:revision>
  <dcterms:created xsi:type="dcterms:W3CDTF">2026-05-30T05:37:51Z</dcterms:created>
  <dcterms:modified xsi:type="dcterms:W3CDTF">2026-05-30T05:37:51Z</dcterms:modified>
</cp:coreProperties>
</file>